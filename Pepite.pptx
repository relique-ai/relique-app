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0" d="100"/>
          <a:sy n="40" d="100"/>
        </p:scale>
        <p:origin x="82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628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[Fondateur], je vous présente Pépite. En quelques mots : on transforme n'importe quel objet de votre quotidien en une vente possible, en moins de cinq secondes. On lance simultanément en France et aux États-Unis dans six mois.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le problème. Trois Français sur quatre ont chez eux des objets qu'ils n'utilisent plus mais qu'ils ne vendent pas. Pourquoi ? Parce que vendre demande du temps : photographier, estimer le prix, écrire l'annonce, gérer les négociations. C'est un frein énorme — et c'est exactement ce qui a permis à Vinted de bâtir un empire sur un seul vertical, le textile.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conviction : si on enlève la friction, on ouvre un marché bien plus large. Le marché de la seconde main mondiale dépasse 200 milliards de dollars. La part qui reste captive dans les foyers, faute d'outil simple, est estimée à plusieurs centaines de milliards de valeur dormante. C'est notre cible.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Pépite, c'est trois mouvements. Tu scannes un objet avec ta caméra. On l'identifie, on l'estime à partir des ventes réelles. Tu valides, l'annonce part. Pas de saisie manuelle, pas d'hésitation sur le prix, pas de photos à retoucher. Cinq secondes.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concrète. Tu pointes ton téléphone vers un sac que tu n'utilises plus. Pépite reconnaît un Lancel des années 90. Estimation : 68 euros, fourchette 55–85, basée sur 24 ventes récentes d'objets similaires. Tu valides. C'est en ligne.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L'effet ludique est central. On ne demande pas aux gens de vendre — on les invite à découvrir ce qu'ils ont. Le scan devient un jeu : qu'est-ce que ça vaut, ce vase ? Cette console ? Ce livre ? Chaque objet identifié comme rare déclenche un badge « Pépite ». La rétention vient de là, pas du besoin de vendre.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économique est progressif et c'est volontaire. Année 1 : commission de 5%, équivalente à Vinted, pour acquérir la base. Année 2 : 8%, on monte sur les ventes premium. Année 3 : 12%, comme Vestiaire Collective. La progression suit la valeur perçue : plus l'IA devient juste, plus la commission est acceptée.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Marché : on attaque le territoire de Leboncoin et Vinted, mais par un angle différent. Eux misent sur les catégories ou sur le textile. Nous, on est transversal grâce au scan. Tu peux vendre ton sac, ta console, ton vase et ton livre depuis la même app. C'est la première fois que c'est possible sans frottement.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Concurrence. Vinted est leader sur le textile mais ne sait pas faire le reste. Leboncoin est généraliste mais demande une saisie manuelle de quinze minutes. Back Market est spécialiste tech, B2C uniquement. Aucun acteur ne combine scan IA + multi-catégories + C2C. C'est notre fenêtre.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Lancement. France et USA en simultané, septembre 2026. Pourquoi les deux : le marché américain valorise mieux la seconde main premium, le marché français a un coût d'acquisition plus bas. Les deux se financent l'un l'autre. Acquisition : 80% via TikTok et Instagram, format short-vidéo « scanne ce que t'as chez toi ». Le scan est viral par nature.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 Année 1 : 500K utilisateurs actifs, 12M€ de GMV, 600K€ de revenus. Année 3 : 4M utilisateurs, 180M€ de GMV, 21M€ de revenus à commission 12%. Break-even prévu mois 22. La courbe suit Vinted entre 2014 et 2017, multipliée par 1,4 grâce au scan multi-catégories.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lève 4 millions d'euros en seed pour 18 mois. Répartition : 45% produit et IA, 35% acquisition France-USA, 20% équipe et opérations. Vous nous aidez à transformer ce que les gens ont déjà chez eux en une nouvelle économie. Merci.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907"/>
        </a:solidFill>
        <a:effectLst/>
      </p:bgPr>
    </p:bg>
    <p:spTree>
      <p:nvGrpSpPr>
        <p:cNvPr id="1" name=""/>
        <p:cNvGrpSpPr/>
        <p:nvPr/>
      </p:nvGrpSpPr>
      <p:grpSpPr>
        <a:xfrm>
          <a:off x="0" y="0"/>
          <a:ext cx="0" cy="0"/>
          <a:chOff x="0" y="0"/>
          <a:chExt cx="0" cy="0"/>
        </a:xfrm>
      </p:grpSpPr>
      <p:sp>
        <p:nvSpPr>
          <p:cNvPr id="2" name="Shape 0"/>
          <p:cNvSpPr/>
          <p:nvPr/>
        </p:nvSpPr>
        <p:spPr>
          <a:xfrm>
            <a:off x="8686800" y="-2057400"/>
            <a:ext cx="11430000" cy="11430000"/>
          </a:xfrm>
          <a:prstGeom prst="rect">
            <a:avLst/>
          </a:prstGeom>
          <a:solidFill>
            <a:srgbClr val="F5B82E">
              <a:alpha val="18000"/>
            </a:srgbClr>
          </a:solidFill>
          <a:ln/>
        </p:spPr>
      </p:sp>
      <p:pic>
        <p:nvPicPr>
          <p:cNvPr id="3" name="Image 0" descr="preencoded.png"/>
          <p:cNvPicPr>
            <a:picLocks noChangeAspect="1"/>
          </p:cNvPicPr>
          <p:nvPr/>
        </p:nvPicPr>
        <p:blipFill>
          <a:blip r:embed="rId3"/>
          <a:stretch>
            <a:fillRect/>
          </a:stretch>
        </p:blipFill>
        <p:spPr>
          <a:xfrm>
            <a:off x="1143000" y="1829329"/>
            <a:ext cx="1524000" cy="1524000"/>
          </a:xfrm>
          <a:prstGeom prst="rect">
            <a:avLst/>
          </a:prstGeom>
        </p:spPr>
      </p:pic>
      <p:sp>
        <p:nvSpPr>
          <p:cNvPr id="4" name="Text 1"/>
          <p:cNvSpPr/>
          <p:nvPr/>
        </p:nvSpPr>
        <p:spPr>
          <a:xfrm>
            <a:off x="1143000" y="3852863"/>
            <a:ext cx="6343604" cy="2438400"/>
          </a:xfrm>
          <a:prstGeom prst="rect">
            <a:avLst/>
          </a:prstGeom>
          <a:noFill/>
          <a:ln/>
        </p:spPr>
        <p:txBody>
          <a:bodyPr wrap="square" lIns="25400" tIns="25400" rIns="25400" bIns="25400" rtlCol="0" anchor="t">
            <a:noAutofit/>
          </a:bodyPr>
          <a:lstStyle/>
          <a:p>
            <a:pPr marL="0" indent="0" algn="l">
              <a:lnSpc>
                <a:spcPct val="90000"/>
              </a:lnSpc>
              <a:buNone/>
            </a:pPr>
            <a:r>
              <a:rPr lang="en-US" sz="17500" kern="0" spc="-630" dirty="0">
                <a:solidFill>
                  <a:srgbClr val="F5B82E"/>
                </a:solidFill>
                <a:latin typeface="Arial" pitchFamily="34" charset="0"/>
                <a:ea typeface="Arial" pitchFamily="34" charset="-122"/>
                <a:cs typeface="Arial" pitchFamily="34" charset="-120"/>
              </a:rPr>
              <a:t>Pépite</a:t>
            </a:r>
            <a:endParaRPr lang="en-US" sz="17500" dirty="0"/>
          </a:p>
        </p:txBody>
      </p:sp>
      <p:sp>
        <p:nvSpPr>
          <p:cNvPr id="5" name="Text 2"/>
          <p:cNvSpPr/>
          <p:nvPr/>
        </p:nvSpPr>
        <p:spPr>
          <a:xfrm>
            <a:off x="1143000" y="6481763"/>
            <a:ext cx="4255821" cy="1226608"/>
          </a:xfrm>
          <a:prstGeom prst="rect">
            <a:avLst/>
          </a:prstGeom>
          <a:noFill/>
          <a:ln/>
        </p:spPr>
        <p:txBody>
          <a:bodyPr wrap="square" lIns="25400" tIns="25400" rIns="25400" bIns="25400" rtlCol="0" anchor="t">
            <a:normAutofit/>
          </a:bodyPr>
          <a:lstStyle/>
          <a:p>
            <a:pPr marL="0" indent="0" algn="l">
              <a:lnSpc>
                <a:spcPct val="130000"/>
              </a:lnSpc>
              <a:buNone/>
            </a:pPr>
            <a:r>
              <a:rPr lang="en-US" sz="3600" i="1" dirty="0">
                <a:solidFill>
                  <a:srgbClr val="F1EAD9"/>
                </a:solidFill>
                <a:latin typeface="Arial" pitchFamily="34" charset="0"/>
                <a:ea typeface="Arial" pitchFamily="34" charset="-122"/>
                <a:cs typeface="Arial" pitchFamily="34" charset="-120"/>
              </a:rPr>
              <a:t>Tes objets valent plus que tu ne crois.</a:t>
            </a:r>
            <a:endParaRPr lang="en-US" sz="3600" dirty="0"/>
          </a:p>
        </p:txBody>
      </p:sp>
      <p:sp>
        <p:nvSpPr>
          <p:cNvPr id="6" name="Text 3"/>
          <p:cNvSpPr/>
          <p:nvPr/>
        </p:nvSpPr>
        <p:spPr>
          <a:xfrm>
            <a:off x="1143000" y="8292571"/>
            <a:ext cx="2137833" cy="190500"/>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A99680"/>
                </a:solidFill>
                <a:latin typeface="Arial" pitchFamily="34" charset="0"/>
                <a:ea typeface="Arial" pitchFamily="34" charset="-122"/>
                <a:cs typeface="Arial" pitchFamily="34" charset="-120"/>
              </a:rPr>
              <a:t>PITCH INVESTISSEURS</a:t>
            </a:r>
            <a:endParaRPr lang="en-US" sz="1050" dirty="0"/>
          </a:p>
        </p:txBody>
      </p:sp>
      <p:sp>
        <p:nvSpPr>
          <p:cNvPr id="7" name="Text 4"/>
          <p:cNvSpPr/>
          <p:nvPr/>
        </p:nvSpPr>
        <p:spPr>
          <a:xfrm>
            <a:off x="3433233" y="8292571"/>
            <a:ext cx="150019" cy="190500"/>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A87A1A"/>
                </a:solidFill>
                <a:latin typeface="Arial" pitchFamily="34" charset="0"/>
                <a:ea typeface="Arial" pitchFamily="34" charset="-122"/>
                <a:cs typeface="Arial" pitchFamily="34" charset="-120"/>
              </a:rPr>
              <a:t>·</a:t>
            </a:r>
            <a:endParaRPr lang="en-US" sz="1050" dirty="0"/>
          </a:p>
        </p:txBody>
      </p:sp>
      <p:sp>
        <p:nvSpPr>
          <p:cNvPr id="8" name="Text 5"/>
          <p:cNvSpPr/>
          <p:nvPr/>
        </p:nvSpPr>
        <p:spPr>
          <a:xfrm>
            <a:off x="3735652" y="8279871"/>
            <a:ext cx="951045" cy="215900"/>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F5B82E"/>
                </a:solidFill>
                <a:latin typeface="Arial" pitchFamily="34" charset="0"/>
                <a:ea typeface="Arial" pitchFamily="34" charset="-122"/>
                <a:cs typeface="Arial" pitchFamily="34" charset="-120"/>
              </a:rPr>
              <a:t>SEED 4M€</a:t>
            </a:r>
            <a:endParaRPr lang="en-US" sz="1050" dirty="0"/>
          </a:p>
        </p:txBody>
      </p:sp>
      <p:sp>
        <p:nvSpPr>
          <p:cNvPr id="9" name="Text 6"/>
          <p:cNvSpPr/>
          <p:nvPr/>
        </p:nvSpPr>
        <p:spPr>
          <a:xfrm>
            <a:off x="4839097" y="8292571"/>
            <a:ext cx="150019" cy="190500"/>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A87A1A"/>
                </a:solidFill>
                <a:latin typeface="Arial" pitchFamily="34" charset="0"/>
                <a:ea typeface="Arial" pitchFamily="34" charset="-122"/>
                <a:cs typeface="Arial" pitchFamily="34" charset="-120"/>
              </a:rPr>
              <a:t>·</a:t>
            </a:r>
            <a:endParaRPr lang="en-US" sz="1050" dirty="0"/>
          </a:p>
        </p:txBody>
      </p:sp>
      <p:sp>
        <p:nvSpPr>
          <p:cNvPr id="10" name="Text 7"/>
          <p:cNvSpPr/>
          <p:nvPr/>
        </p:nvSpPr>
        <p:spPr>
          <a:xfrm>
            <a:off x="5141516" y="8292571"/>
            <a:ext cx="881724" cy="190500"/>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A99680"/>
                </a:solidFill>
                <a:latin typeface="Arial" pitchFamily="34" charset="0"/>
                <a:ea typeface="Arial" pitchFamily="34" charset="-122"/>
                <a:cs typeface="Arial" pitchFamily="34" charset="-120"/>
              </a:rPr>
              <a:t>MAI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01 — LE PROBLÈME</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Des milliards </a:t>
            </a:r>
            <a:r>
              <a:rPr lang="en-US" sz="6600" i="1" kern="0" spc="-132" dirty="0">
                <a:solidFill>
                  <a:srgbClr val="F5B82E"/>
                </a:solidFill>
                <a:latin typeface="Arial" pitchFamily="34" charset="0"/>
                <a:ea typeface="Arial" pitchFamily="34" charset="-122"/>
                <a:cs typeface="Arial" pitchFamily="34" charset="-120"/>
              </a:rPr>
              <a:t>dorment chez nous.</a:t>
            </a:r>
            <a:endParaRPr lang="en-US" sz="6600" dirty="0"/>
          </a:p>
        </p:txBody>
      </p:sp>
      <p:sp>
        <p:nvSpPr>
          <p:cNvPr id="4" name="Text 2"/>
          <p:cNvSpPr/>
          <p:nvPr/>
        </p:nvSpPr>
        <p:spPr>
          <a:xfrm>
            <a:off x="1143000" y="2412603"/>
            <a:ext cx="10791825"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F1EAD9"/>
                </a:solidFill>
                <a:latin typeface="Arial" pitchFamily="34" charset="0"/>
                <a:ea typeface="Arial" pitchFamily="34" charset="-122"/>
                <a:cs typeface="Arial" pitchFamily="34" charset="-120"/>
              </a:rPr>
              <a:t>Trois Français sur quatre ont chez eux des objets qu'ils n'utilisent plus mais qu'ils ne vendent pas. La vente demande trop de temps : photos, prix, annonce, négociation.</a:t>
            </a:r>
            <a:endParaRPr lang="en-US" sz="2250" dirty="0"/>
          </a:p>
        </p:txBody>
      </p:sp>
      <p:sp>
        <p:nvSpPr>
          <p:cNvPr id="5" name="Text 3"/>
          <p:cNvSpPr/>
          <p:nvPr/>
        </p:nvSpPr>
        <p:spPr>
          <a:xfrm>
            <a:off x="1143000" y="5815410"/>
            <a:ext cx="5180076" cy="1371600"/>
          </a:xfrm>
          <a:prstGeom prst="rect">
            <a:avLst/>
          </a:prstGeom>
          <a:noFill/>
          <a:ln/>
        </p:spPr>
        <p:txBody>
          <a:bodyPr wrap="square" lIns="25400" tIns="25400" rIns="25400" bIns="25400" rtlCol="0" anchor="t">
            <a:normAutofit/>
          </a:bodyPr>
          <a:lstStyle/>
          <a:p>
            <a:pPr marL="0" indent="0" algn="l">
              <a:lnSpc>
                <a:spcPct val="100000"/>
              </a:lnSpc>
              <a:buNone/>
            </a:pPr>
            <a:r>
              <a:rPr lang="en-US" sz="10500" kern="0" spc="-315" dirty="0">
                <a:solidFill>
                  <a:srgbClr val="F5B82E"/>
                </a:solidFill>
                <a:latin typeface="Arial" pitchFamily="34" charset="0"/>
                <a:ea typeface="Arial" pitchFamily="34" charset="-122"/>
                <a:cs typeface="Arial" pitchFamily="34" charset="-120"/>
              </a:rPr>
              <a:t>73%</a:t>
            </a:r>
            <a:endParaRPr lang="en-US" sz="10500" dirty="0"/>
          </a:p>
        </p:txBody>
      </p:sp>
      <p:sp>
        <p:nvSpPr>
          <p:cNvPr id="6" name="Text 4"/>
          <p:cNvSpPr/>
          <p:nvPr/>
        </p:nvSpPr>
        <p:spPr>
          <a:xfrm>
            <a:off x="1143000" y="7301310"/>
            <a:ext cx="3728085" cy="678127"/>
          </a:xfrm>
          <a:prstGeom prst="rect">
            <a:avLst/>
          </a:prstGeom>
          <a:noFill/>
          <a:ln/>
        </p:spPr>
        <p:txBody>
          <a:bodyPr wrap="square" lIns="25400" tIns="25400" rIns="25400" bIns="25400" rtlCol="0" anchor="t">
            <a:normAutofit/>
          </a:bodyPr>
          <a:lstStyle/>
          <a:p>
            <a:pPr marL="0" indent="0" algn="l">
              <a:lnSpc>
                <a:spcPct val="140000"/>
              </a:lnSpc>
              <a:buNone/>
            </a:pPr>
            <a:r>
              <a:rPr lang="en-US" sz="1800" i="1" dirty="0">
                <a:solidFill>
                  <a:srgbClr val="F1EAD9"/>
                </a:solidFill>
                <a:latin typeface="Arial" pitchFamily="34" charset="0"/>
                <a:ea typeface="Arial" pitchFamily="34" charset="-122"/>
                <a:cs typeface="Arial" pitchFamily="34" charset="-120"/>
              </a:rPr>
              <a:t>des foyers stockent des objets inutilisés mais revendables.</a:t>
            </a:r>
            <a:endParaRPr lang="en-US" sz="1800" dirty="0"/>
          </a:p>
        </p:txBody>
      </p:sp>
      <p:sp>
        <p:nvSpPr>
          <p:cNvPr id="7" name="Text 5"/>
          <p:cNvSpPr/>
          <p:nvPr/>
        </p:nvSpPr>
        <p:spPr>
          <a:xfrm>
            <a:off x="6629400" y="5815410"/>
            <a:ext cx="5180076" cy="1371600"/>
          </a:xfrm>
          <a:prstGeom prst="rect">
            <a:avLst/>
          </a:prstGeom>
          <a:noFill/>
          <a:ln/>
        </p:spPr>
        <p:txBody>
          <a:bodyPr wrap="square" lIns="25400" tIns="25400" rIns="25400" bIns="25400" rtlCol="0" anchor="t">
            <a:normAutofit/>
          </a:bodyPr>
          <a:lstStyle/>
          <a:p>
            <a:pPr marL="0" indent="0" algn="l">
              <a:lnSpc>
                <a:spcPct val="100000"/>
              </a:lnSpc>
              <a:buNone/>
            </a:pPr>
            <a:r>
              <a:rPr lang="en-US" sz="10500" kern="0" spc="-315" dirty="0">
                <a:solidFill>
                  <a:srgbClr val="F5B82E"/>
                </a:solidFill>
                <a:latin typeface="Arial" pitchFamily="34" charset="0"/>
                <a:ea typeface="Arial" pitchFamily="34" charset="-122"/>
                <a:cs typeface="Arial" pitchFamily="34" charset="-120"/>
              </a:rPr>
              <a:t>15</a:t>
            </a:r>
            <a:r>
              <a:rPr lang="en-US" sz="4800" kern="0" spc="-315" dirty="0">
                <a:solidFill>
                  <a:srgbClr val="F5B82E"/>
                </a:solidFill>
                <a:latin typeface="Arial" pitchFamily="34" charset="0"/>
                <a:ea typeface="Arial" pitchFamily="34" charset="-122"/>
                <a:cs typeface="Arial" pitchFamily="34" charset="-120"/>
              </a:rPr>
              <a:t>min</a:t>
            </a:r>
            <a:endParaRPr lang="en-US" sz="10500" dirty="0"/>
          </a:p>
        </p:txBody>
      </p:sp>
      <p:sp>
        <p:nvSpPr>
          <p:cNvPr id="8" name="Text 6"/>
          <p:cNvSpPr/>
          <p:nvPr/>
        </p:nvSpPr>
        <p:spPr>
          <a:xfrm>
            <a:off x="6629400" y="7301310"/>
            <a:ext cx="3728085" cy="678127"/>
          </a:xfrm>
          <a:prstGeom prst="rect">
            <a:avLst/>
          </a:prstGeom>
          <a:noFill/>
          <a:ln/>
        </p:spPr>
        <p:txBody>
          <a:bodyPr wrap="square" lIns="25400" tIns="25400" rIns="25400" bIns="25400" rtlCol="0" anchor="t">
            <a:normAutofit/>
          </a:bodyPr>
          <a:lstStyle/>
          <a:p>
            <a:pPr marL="0" indent="0" algn="l">
              <a:lnSpc>
                <a:spcPct val="140000"/>
              </a:lnSpc>
              <a:buNone/>
            </a:pPr>
            <a:r>
              <a:rPr lang="en-US" sz="1800" i="1" dirty="0">
                <a:solidFill>
                  <a:srgbClr val="F1EAD9"/>
                </a:solidFill>
                <a:latin typeface="Arial" pitchFamily="34" charset="0"/>
                <a:ea typeface="Arial" pitchFamily="34" charset="-122"/>
                <a:cs typeface="Arial" pitchFamily="34" charset="-120"/>
              </a:rPr>
              <a:t>en moyenne pour publier une annonce sur les apps actuelles.</a:t>
            </a:r>
            <a:endParaRPr lang="en-US" sz="1800" dirty="0"/>
          </a:p>
        </p:txBody>
      </p:sp>
      <p:sp>
        <p:nvSpPr>
          <p:cNvPr id="9" name="Text 7"/>
          <p:cNvSpPr/>
          <p:nvPr/>
        </p:nvSpPr>
        <p:spPr>
          <a:xfrm>
            <a:off x="12115800" y="6024960"/>
            <a:ext cx="5180076"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kern="0" spc="-216" dirty="0">
                <a:solidFill>
                  <a:srgbClr val="F5B82E"/>
                </a:solidFill>
                <a:latin typeface="Arial" pitchFamily="34" charset="0"/>
                <a:ea typeface="Arial" pitchFamily="34" charset="-122"/>
                <a:cs typeface="Arial" pitchFamily="34" charset="-120"/>
              </a:rPr>
              <a:t>2 200€</a:t>
            </a:r>
            <a:endParaRPr lang="en-US" sz="7200" dirty="0"/>
          </a:p>
        </p:txBody>
      </p:sp>
      <p:sp>
        <p:nvSpPr>
          <p:cNvPr id="10" name="Text 8"/>
          <p:cNvSpPr/>
          <p:nvPr/>
        </p:nvSpPr>
        <p:spPr>
          <a:xfrm>
            <a:off x="12115800" y="7091760"/>
            <a:ext cx="3728085" cy="678127"/>
          </a:xfrm>
          <a:prstGeom prst="rect">
            <a:avLst/>
          </a:prstGeom>
          <a:noFill/>
          <a:ln/>
        </p:spPr>
        <p:txBody>
          <a:bodyPr wrap="square" lIns="25400" tIns="25400" rIns="25400" bIns="25400" rtlCol="0" anchor="t">
            <a:normAutofit/>
          </a:bodyPr>
          <a:lstStyle/>
          <a:p>
            <a:pPr marL="0" indent="0" algn="l">
              <a:lnSpc>
                <a:spcPct val="140000"/>
              </a:lnSpc>
              <a:buNone/>
            </a:pPr>
            <a:r>
              <a:rPr lang="en-US" sz="1800" i="1" dirty="0">
                <a:solidFill>
                  <a:srgbClr val="F1EAD9"/>
                </a:solidFill>
                <a:latin typeface="Arial" pitchFamily="34" charset="0"/>
                <a:ea typeface="Arial" pitchFamily="34" charset="-122"/>
                <a:cs typeface="Arial" pitchFamily="34" charset="-120"/>
              </a:rPr>
              <a:t>de valeur dormante par foyer en moyenne.</a:t>
            </a:r>
            <a:endParaRPr lang="en-US" sz="1800" dirty="0"/>
          </a:p>
        </p:txBody>
      </p:sp>
      <p:sp>
        <p:nvSpPr>
          <p:cNvPr id="11" name="Shape 9"/>
          <p:cNvSpPr/>
          <p:nvPr/>
        </p:nvSpPr>
        <p:spPr>
          <a:xfrm>
            <a:off x="1143000" y="9357783"/>
            <a:ext cx="16002000" cy="9525"/>
          </a:xfrm>
          <a:prstGeom prst="rect">
            <a:avLst/>
          </a:prstGeom>
          <a:solidFill>
            <a:srgbClr val="F5B82E">
              <a:alpha val="10000"/>
            </a:srgbClr>
          </a:solidFill>
          <a:ln/>
        </p:spPr>
      </p:sp>
      <p:sp>
        <p:nvSpPr>
          <p:cNvPr id="12" name="Text 10"/>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13" name="Text 11"/>
          <p:cNvSpPr/>
          <p:nvPr/>
        </p:nvSpPr>
        <p:spPr>
          <a:xfrm>
            <a:off x="15551680" y="9635067"/>
            <a:ext cx="1669521"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02 / 12 — PROBLÈME</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02 — MARCHÉ</a:t>
            </a:r>
            <a:endParaRPr lang="en-US" sz="1050" dirty="0"/>
          </a:p>
        </p:txBody>
      </p:sp>
      <p:sp>
        <p:nvSpPr>
          <p:cNvPr id="3" name="Text 1"/>
          <p:cNvSpPr/>
          <p:nvPr/>
        </p:nvSpPr>
        <p:spPr>
          <a:xfrm>
            <a:off x="1143000" y="1219200"/>
            <a:ext cx="16482060" cy="179837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Un marché </a:t>
            </a:r>
            <a:r>
              <a:rPr lang="en-US" sz="6600" i="1" kern="0" spc="-132" dirty="0">
                <a:solidFill>
                  <a:srgbClr val="F5B82E"/>
                </a:solidFill>
                <a:latin typeface="Arial" pitchFamily="34" charset="0"/>
                <a:ea typeface="Arial" pitchFamily="34" charset="-122"/>
                <a:cs typeface="Arial" pitchFamily="34" charset="-120"/>
              </a:rPr>
              <a:t>de 200 milliards </a:t>
            </a:r>
            <a:r>
              <a:rPr lang="en-US" sz="6600" kern="0" spc="-132" dirty="0">
                <a:solidFill>
                  <a:srgbClr val="FAF6EC"/>
                </a:solidFill>
                <a:latin typeface="Arial" pitchFamily="34" charset="0"/>
                <a:ea typeface="Arial" pitchFamily="34" charset="-122"/>
                <a:cs typeface="Arial" pitchFamily="34" charset="-120"/>
              </a:rPr>
              <a:t>en pleine accélération.</a:t>
            </a:r>
            <a:endParaRPr lang="en-US" sz="6600" dirty="0"/>
          </a:p>
        </p:txBody>
      </p:sp>
      <p:sp>
        <p:nvSpPr>
          <p:cNvPr id="4" name="Text 2"/>
          <p:cNvSpPr/>
          <p:nvPr/>
        </p:nvSpPr>
        <p:spPr>
          <a:xfrm>
            <a:off x="1143000" y="3284273"/>
            <a:ext cx="10791825"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F1EAD9"/>
                </a:solidFill>
                <a:latin typeface="Arial" pitchFamily="34" charset="0"/>
                <a:ea typeface="Arial" pitchFamily="34" charset="-122"/>
                <a:cs typeface="Arial" pitchFamily="34" charset="-120"/>
              </a:rPr>
              <a:t>La seconde main mondiale double tous les cinq ans. Vinted a prouvé l'appétit sur un seul vertical — le textile. Le reste, électronique, mode hors-textile, déco, livres, est encore à conquérir.</a:t>
            </a:r>
            <a:endParaRPr lang="en-US" sz="2250" dirty="0"/>
          </a:p>
        </p:txBody>
      </p:sp>
      <p:pic>
        <p:nvPicPr>
          <p:cNvPr id="5" name="Image 0" descr="preencoded.png"/>
          <p:cNvPicPr>
            <a:picLocks noChangeAspect="1"/>
          </p:cNvPicPr>
          <p:nvPr/>
        </p:nvPicPr>
        <p:blipFill>
          <a:blip r:embed="rId3"/>
          <a:stretch>
            <a:fillRect/>
          </a:stretch>
        </p:blipFill>
        <p:spPr>
          <a:xfrm>
            <a:off x="2476500" y="5352124"/>
            <a:ext cx="13335000" cy="3619500"/>
          </a:xfrm>
          <a:prstGeom prst="rect">
            <a:avLst/>
          </a:prstGeom>
        </p:spPr>
      </p:pic>
      <p:sp>
        <p:nvSpPr>
          <p:cNvPr id="6" name="Shape 3"/>
          <p:cNvSpPr/>
          <p:nvPr/>
        </p:nvSpPr>
        <p:spPr>
          <a:xfrm>
            <a:off x="1143000" y="9357783"/>
            <a:ext cx="16002000" cy="9525"/>
          </a:xfrm>
          <a:prstGeom prst="rect">
            <a:avLst/>
          </a:prstGeom>
          <a:solidFill>
            <a:srgbClr val="F5B82E">
              <a:alpha val="10000"/>
            </a:srgbClr>
          </a:solidFill>
          <a:ln/>
        </p:spPr>
      </p:sp>
      <p:sp>
        <p:nvSpPr>
          <p:cNvPr id="7" name="Text 4"/>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8" name="Text 5"/>
          <p:cNvSpPr/>
          <p:nvPr/>
        </p:nvSpPr>
        <p:spPr>
          <a:xfrm>
            <a:off x="15740195" y="9635067"/>
            <a:ext cx="1481005"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03 / 12 — MARCHÉ</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03 — LA SOLUTION</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Trois mouvements, </a:t>
            </a:r>
            <a:r>
              <a:rPr lang="en-US" sz="6600" i="1" kern="0" spc="-132" dirty="0">
                <a:solidFill>
                  <a:srgbClr val="F5B82E"/>
                </a:solidFill>
                <a:latin typeface="Arial" pitchFamily="34" charset="0"/>
                <a:ea typeface="Arial" pitchFamily="34" charset="-122"/>
                <a:cs typeface="Arial" pitchFamily="34" charset="-120"/>
              </a:rPr>
              <a:t>cinq secondes.</a:t>
            </a:r>
            <a:endParaRPr lang="en-US" sz="6600" dirty="0"/>
          </a:p>
        </p:txBody>
      </p:sp>
      <p:sp>
        <p:nvSpPr>
          <p:cNvPr id="4" name="Shape 2"/>
          <p:cNvSpPr/>
          <p:nvPr/>
        </p:nvSpPr>
        <p:spPr>
          <a:xfrm>
            <a:off x="1143000" y="2869803"/>
            <a:ext cx="5130800" cy="6578997"/>
          </a:xfrm>
          <a:prstGeom prst="roundRect">
            <a:avLst>
              <a:gd name="adj" fmla="val 4455"/>
            </a:avLst>
          </a:prstGeom>
          <a:solidFill>
            <a:srgbClr val="110D08"/>
          </a:solidFill>
          <a:ln w="8467">
            <a:solidFill>
              <a:srgbClr val="F5B82E">
                <a:alpha val="8000"/>
              </a:srgbClr>
            </a:solidFill>
            <a:prstDash val="solid"/>
          </a:ln>
        </p:spPr>
      </p:sp>
      <p:sp>
        <p:nvSpPr>
          <p:cNvPr id="5" name="Text 3"/>
          <p:cNvSpPr/>
          <p:nvPr/>
        </p:nvSpPr>
        <p:spPr>
          <a:xfrm>
            <a:off x="1608667" y="3335470"/>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01</a:t>
            </a:r>
            <a:endParaRPr lang="en-US" sz="975" dirty="0"/>
          </a:p>
        </p:txBody>
      </p:sp>
      <p:pic>
        <p:nvPicPr>
          <p:cNvPr id="6" name="Image 0" descr="preencoded.png"/>
          <p:cNvPicPr>
            <a:picLocks noChangeAspect="1"/>
          </p:cNvPicPr>
          <p:nvPr/>
        </p:nvPicPr>
        <p:blipFill>
          <a:blip r:embed="rId3"/>
          <a:stretch>
            <a:fillRect/>
          </a:stretch>
        </p:blipFill>
        <p:spPr>
          <a:xfrm>
            <a:off x="1608667" y="3699536"/>
            <a:ext cx="457200" cy="457200"/>
          </a:xfrm>
          <a:prstGeom prst="rect">
            <a:avLst/>
          </a:prstGeom>
        </p:spPr>
      </p:pic>
      <p:sp>
        <p:nvSpPr>
          <p:cNvPr id="7" name="Text 4"/>
          <p:cNvSpPr/>
          <p:nvPr/>
        </p:nvSpPr>
        <p:spPr>
          <a:xfrm>
            <a:off x="1608667" y="4427670"/>
            <a:ext cx="4325451" cy="458126"/>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Scanne</a:t>
            </a:r>
            <a:endParaRPr lang="en-US" sz="3150" dirty="0"/>
          </a:p>
        </p:txBody>
      </p:sp>
      <p:sp>
        <p:nvSpPr>
          <p:cNvPr id="8" name="Text 5"/>
          <p:cNvSpPr/>
          <p:nvPr/>
        </p:nvSpPr>
        <p:spPr>
          <a:xfrm>
            <a:off x="1608667" y="5000096"/>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Pointe ta caméra. Notre IA reconnaît l'objet, sa marque, son modèle, son état. Aucune saisie.</a:t>
            </a:r>
            <a:endParaRPr lang="en-US" sz="1350" dirty="0"/>
          </a:p>
        </p:txBody>
      </p:sp>
      <p:sp>
        <p:nvSpPr>
          <p:cNvPr id="9" name="Shape 6"/>
          <p:cNvSpPr/>
          <p:nvPr/>
        </p:nvSpPr>
        <p:spPr>
          <a:xfrm>
            <a:off x="6578600" y="2869803"/>
            <a:ext cx="5130800" cy="6578997"/>
          </a:xfrm>
          <a:prstGeom prst="roundRect">
            <a:avLst>
              <a:gd name="adj" fmla="val 4455"/>
            </a:avLst>
          </a:prstGeom>
          <a:solidFill>
            <a:srgbClr val="110D08"/>
          </a:solidFill>
          <a:ln w="8467">
            <a:solidFill>
              <a:srgbClr val="F5B82E">
                <a:alpha val="8000"/>
              </a:srgbClr>
            </a:solidFill>
            <a:prstDash val="solid"/>
          </a:ln>
        </p:spPr>
      </p:sp>
      <p:sp>
        <p:nvSpPr>
          <p:cNvPr id="10" name="Text 7"/>
          <p:cNvSpPr/>
          <p:nvPr/>
        </p:nvSpPr>
        <p:spPr>
          <a:xfrm>
            <a:off x="7044267" y="3335470"/>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02</a:t>
            </a:r>
            <a:endParaRPr lang="en-US" sz="975" dirty="0"/>
          </a:p>
        </p:txBody>
      </p:sp>
      <p:pic>
        <p:nvPicPr>
          <p:cNvPr id="11" name="Image 1" descr="preencoded.png"/>
          <p:cNvPicPr>
            <a:picLocks noChangeAspect="1"/>
          </p:cNvPicPr>
          <p:nvPr/>
        </p:nvPicPr>
        <p:blipFill>
          <a:blip r:embed="rId4"/>
          <a:stretch>
            <a:fillRect/>
          </a:stretch>
        </p:blipFill>
        <p:spPr>
          <a:xfrm>
            <a:off x="7044267" y="3699536"/>
            <a:ext cx="457200" cy="457200"/>
          </a:xfrm>
          <a:prstGeom prst="rect">
            <a:avLst/>
          </a:prstGeom>
        </p:spPr>
      </p:pic>
      <p:sp>
        <p:nvSpPr>
          <p:cNvPr id="12" name="Text 8"/>
          <p:cNvSpPr/>
          <p:nvPr/>
        </p:nvSpPr>
        <p:spPr>
          <a:xfrm>
            <a:off x="7044267" y="4427670"/>
            <a:ext cx="4325451" cy="458126"/>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Estime</a:t>
            </a:r>
            <a:endParaRPr lang="en-US" sz="3150" dirty="0"/>
          </a:p>
        </p:txBody>
      </p:sp>
      <p:sp>
        <p:nvSpPr>
          <p:cNvPr id="13" name="Text 9"/>
          <p:cNvSpPr/>
          <p:nvPr/>
        </p:nvSpPr>
        <p:spPr>
          <a:xfrm>
            <a:off x="7044267" y="5000096"/>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Comparaison aux ventes réelles sur 30 jours. Une fourchette juste, un prix conseillé, en temps réel.</a:t>
            </a:r>
            <a:endParaRPr lang="en-US" sz="1350" dirty="0"/>
          </a:p>
        </p:txBody>
      </p:sp>
      <p:sp>
        <p:nvSpPr>
          <p:cNvPr id="14" name="Shape 10"/>
          <p:cNvSpPr/>
          <p:nvPr/>
        </p:nvSpPr>
        <p:spPr>
          <a:xfrm>
            <a:off x="12014200" y="2869803"/>
            <a:ext cx="5130800" cy="6578997"/>
          </a:xfrm>
          <a:prstGeom prst="roundRect">
            <a:avLst>
              <a:gd name="adj" fmla="val 4455"/>
            </a:avLst>
          </a:prstGeom>
          <a:solidFill>
            <a:srgbClr val="110D08"/>
          </a:solidFill>
          <a:ln w="8467">
            <a:solidFill>
              <a:srgbClr val="F5B82E">
                <a:alpha val="8000"/>
              </a:srgbClr>
            </a:solidFill>
            <a:prstDash val="solid"/>
          </a:ln>
        </p:spPr>
      </p:sp>
      <p:sp>
        <p:nvSpPr>
          <p:cNvPr id="15" name="Text 11"/>
          <p:cNvSpPr/>
          <p:nvPr/>
        </p:nvSpPr>
        <p:spPr>
          <a:xfrm>
            <a:off x="12479867" y="3335470"/>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03</a:t>
            </a:r>
            <a:endParaRPr lang="en-US" sz="975" dirty="0"/>
          </a:p>
        </p:txBody>
      </p:sp>
      <p:pic>
        <p:nvPicPr>
          <p:cNvPr id="16" name="Image 2" descr="preencoded.png"/>
          <p:cNvPicPr>
            <a:picLocks noChangeAspect="1"/>
          </p:cNvPicPr>
          <p:nvPr/>
        </p:nvPicPr>
        <p:blipFill>
          <a:blip r:embed="rId5"/>
          <a:stretch>
            <a:fillRect/>
          </a:stretch>
        </p:blipFill>
        <p:spPr>
          <a:xfrm>
            <a:off x="12479867" y="3699536"/>
            <a:ext cx="457200" cy="457200"/>
          </a:xfrm>
          <a:prstGeom prst="rect">
            <a:avLst/>
          </a:prstGeom>
        </p:spPr>
      </p:pic>
      <p:sp>
        <p:nvSpPr>
          <p:cNvPr id="17" name="Text 12"/>
          <p:cNvSpPr/>
          <p:nvPr/>
        </p:nvSpPr>
        <p:spPr>
          <a:xfrm>
            <a:off x="12479867" y="4427670"/>
            <a:ext cx="4325451" cy="458126"/>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Vends</a:t>
            </a:r>
            <a:endParaRPr lang="en-US" sz="3150" dirty="0"/>
          </a:p>
        </p:txBody>
      </p:sp>
      <p:sp>
        <p:nvSpPr>
          <p:cNvPr id="18" name="Text 13"/>
          <p:cNvSpPr/>
          <p:nvPr/>
        </p:nvSpPr>
        <p:spPr>
          <a:xfrm>
            <a:off x="12479867" y="5000096"/>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L'annonce est prête, photos générées, descriptif rédigé. Tu valides — c'est en ligne.</a:t>
            </a:r>
            <a:endParaRPr lang="en-US" sz="1350" dirty="0"/>
          </a:p>
        </p:txBody>
      </p:sp>
      <p:sp>
        <p:nvSpPr>
          <p:cNvPr id="19" name="Shape 14"/>
          <p:cNvSpPr/>
          <p:nvPr/>
        </p:nvSpPr>
        <p:spPr>
          <a:xfrm>
            <a:off x="1143000" y="9357783"/>
            <a:ext cx="16002000" cy="9525"/>
          </a:xfrm>
          <a:prstGeom prst="rect">
            <a:avLst/>
          </a:prstGeom>
          <a:solidFill>
            <a:srgbClr val="F5B82E">
              <a:alpha val="10000"/>
            </a:srgbClr>
          </a:solidFill>
          <a:ln/>
        </p:spPr>
      </p:sp>
      <p:sp>
        <p:nvSpPr>
          <p:cNvPr id="20" name="Text 15"/>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21" name="Text 16"/>
          <p:cNvSpPr/>
          <p:nvPr/>
        </p:nvSpPr>
        <p:spPr>
          <a:xfrm>
            <a:off x="15606712" y="9635067"/>
            <a:ext cx="1614488"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04 / 12 — SOLUTION</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04 — DÉMO</a:t>
            </a:r>
            <a:endParaRPr lang="en-US" sz="1050" dirty="0"/>
          </a:p>
        </p:txBody>
      </p:sp>
      <p:sp>
        <p:nvSpPr>
          <p:cNvPr id="3" name="Text 1"/>
          <p:cNvSpPr/>
          <p:nvPr/>
        </p:nvSpPr>
        <p:spPr>
          <a:xfrm>
            <a:off x="1143000" y="1219200"/>
            <a:ext cx="16482060" cy="759751"/>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108" dirty="0">
                <a:solidFill>
                  <a:srgbClr val="FAF6EC"/>
                </a:solidFill>
                <a:latin typeface="Arial" pitchFamily="34" charset="0"/>
                <a:ea typeface="Arial" pitchFamily="34" charset="-122"/>
                <a:cs typeface="Arial" pitchFamily="34" charset="-120"/>
              </a:rPr>
              <a:t>Un sac oublié devient </a:t>
            </a:r>
            <a:r>
              <a:rPr lang="en-US" sz="5400" i="1" kern="0" spc="-108" dirty="0">
                <a:solidFill>
                  <a:srgbClr val="F5B82E"/>
                </a:solidFill>
                <a:latin typeface="Arial" pitchFamily="34" charset="0"/>
                <a:ea typeface="Arial" pitchFamily="34" charset="-122"/>
                <a:cs typeface="Arial" pitchFamily="34" charset="-120"/>
              </a:rPr>
              <a:t>68€</a:t>
            </a:r>
            <a:r>
              <a:rPr lang="en-US" sz="5400" kern="0" spc="-108" dirty="0">
                <a:solidFill>
                  <a:srgbClr val="FAF6EC"/>
                </a:solidFill>
                <a:latin typeface="Arial" pitchFamily="34" charset="0"/>
                <a:ea typeface="Arial" pitchFamily="34" charset="-122"/>
                <a:cs typeface="Arial" pitchFamily="34" charset="-120"/>
              </a:rPr>
              <a:t>.</a:t>
            </a:r>
            <a:endParaRPr lang="en-US" sz="5400" dirty="0"/>
          </a:p>
        </p:txBody>
      </p:sp>
      <p:sp>
        <p:nvSpPr>
          <p:cNvPr id="4" name="Shape 2"/>
          <p:cNvSpPr/>
          <p:nvPr/>
        </p:nvSpPr>
        <p:spPr>
          <a:xfrm>
            <a:off x="2925498" y="2702851"/>
            <a:ext cx="3619500" cy="7429500"/>
          </a:xfrm>
          <a:prstGeom prst="roundRect">
            <a:avLst>
              <a:gd name="adj" fmla="val 12632"/>
            </a:avLst>
          </a:prstGeom>
          <a:solidFill>
            <a:srgbClr val="0B0907"/>
          </a:solidFill>
          <a:ln w="76200">
            <a:solidFill>
              <a:srgbClr val="2A2118"/>
            </a:solidFill>
            <a:prstDash val="solid"/>
          </a:ln>
          <a:effectLst>
            <a:outerShdw blurRad="762000" dist="285750" dir="5400000" algn="bl" rotWithShape="0">
              <a:srgbClr val="000000">
                <a:alpha val="60000"/>
              </a:srgbClr>
            </a:outerShdw>
          </a:effectLst>
        </p:spPr>
      </p:sp>
      <p:sp>
        <p:nvSpPr>
          <p:cNvPr id="5" name="Shape 3"/>
          <p:cNvSpPr/>
          <p:nvPr/>
        </p:nvSpPr>
        <p:spPr>
          <a:xfrm>
            <a:off x="3230298" y="3541051"/>
            <a:ext cx="3009900" cy="2257425"/>
          </a:xfrm>
          <a:prstGeom prst="roundRect">
            <a:avLst>
              <a:gd name="adj" fmla="val 5907"/>
            </a:avLst>
          </a:prstGeom>
          <a:solidFill>
            <a:srgbClr val="241C16"/>
          </a:solidFill>
          <a:ln/>
        </p:spPr>
      </p:sp>
      <p:sp>
        <p:nvSpPr>
          <p:cNvPr id="6" name="Text 4"/>
          <p:cNvSpPr/>
          <p:nvPr/>
        </p:nvSpPr>
        <p:spPr>
          <a:xfrm>
            <a:off x="3185149" y="3541051"/>
            <a:ext cx="3100197" cy="2295525"/>
          </a:xfrm>
          <a:prstGeom prst="rect">
            <a:avLst/>
          </a:prstGeom>
          <a:noFill/>
          <a:ln/>
        </p:spPr>
        <p:txBody>
          <a:bodyPr wrap="square" lIns="25400" tIns="25400" rIns="25400" bIns="25400" rtlCol="0" anchor="ctr">
            <a:normAutofit/>
          </a:bodyPr>
          <a:lstStyle/>
          <a:p>
            <a:pPr marL="0" indent="0" algn="ctr">
              <a:buNone/>
            </a:pPr>
            <a:r>
              <a:rPr lang="en-US" sz="750" kern="0" spc="135" dirty="0">
                <a:solidFill>
                  <a:srgbClr val="A99680"/>
                </a:solidFill>
                <a:latin typeface="Arial" pitchFamily="34" charset="0"/>
                <a:ea typeface="Arial" pitchFamily="34" charset="-122"/>
                <a:cs typeface="Arial" pitchFamily="34" charset="-120"/>
              </a:rPr>
              <a:t>SAC LANCEL</a:t>
            </a:r>
            <a:endParaRPr lang="en-US" sz="750" dirty="0"/>
          </a:p>
        </p:txBody>
      </p:sp>
      <p:sp>
        <p:nvSpPr>
          <p:cNvPr id="7" name="Shape 5"/>
          <p:cNvSpPr/>
          <p:nvPr/>
        </p:nvSpPr>
        <p:spPr>
          <a:xfrm>
            <a:off x="3230298" y="5988976"/>
            <a:ext cx="574278" cy="230717"/>
          </a:xfrm>
          <a:prstGeom prst="roundRect">
            <a:avLst>
              <a:gd name="adj" fmla="val 50000"/>
            </a:avLst>
          </a:prstGeom>
          <a:solidFill>
            <a:srgbClr val="F5B82E">
              <a:alpha val="10000"/>
            </a:srgbClr>
          </a:solidFill>
          <a:ln w="8467">
            <a:solidFill>
              <a:srgbClr val="F5B82E">
                <a:alpha val="20000"/>
              </a:srgbClr>
            </a:solidFill>
            <a:prstDash val="solid"/>
          </a:ln>
        </p:spPr>
      </p:sp>
      <p:sp>
        <p:nvSpPr>
          <p:cNvPr id="8" name="Text 6"/>
          <p:cNvSpPr/>
          <p:nvPr/>
        </p:nvSpPr>
        <p:spPr>
          <a:xfrm>
            <a:off x="3334015" y="6045068"/>
            <a:ext cx="443045" cy="156633"/>
          </a:xfrm>
          <a:prstGeom prst="rect">
            <a:avLst/>
          </a:prstGeom>
          <a:noFill/>
          <a:ln/>
        </p:spPr>
        <p:txBody>
          <a:bodyPr wrap="square" lIns="25400" tIns="25400" rIns="25400" bIns="25400" rtlCol="0" anchor="t">
            <a:normAutofit/>
          </a:bodyPr>
          <a:lstStyle/>
          <a:p>
            <a:pPr marL="0" indent="0" algn="l">
              <a:buNone/>
            </a:pPr>
            <a:r>
              <a:rPr lang="en-US" sz="825" dirty="0">
                <a:solidFill>
                  <a:srgbClr val="FBD56B"/>
                </a:solidFill>
                <a:latin typeface="Arial" pitchFamily="34" charset="0"/>
                <a:ea typeface="Arial" pitchFamily="34" charset="-122"/>
                <a:cs typeface="Arial" pitchFamily="34" charset="-120"/>
              </a:rPr>
              <a:t>Identifié</a:t>
            </a:r>
            <a:endParaRPr lang="en-US" sz="825" dirty="0"/>
          </a:p>
        </p:txBody>
      </p:sp>
      <p:sp>
        <p:nvSpPr>
          <p:cNvPr id="9" name="Shape 7"/>
          <p:cNvSpPr/>
          <p:nvPr/>
        </p:nvSpPr>
        <p:spPr>
          <a:xfrm>
            <a:off x="3880776" y="5988976"/>
            <a:ext cx="533400" cy="230717"/>
          </a:xfrm>
          <a:prstGeom prst="roundRect">
            <a:avLst>
              <a:gd name="adj" fmla="val 50000"/>
            </a:avLst>
          </a:prstGeom>
          <a:solidFill>
            <a:srgbClr val="F5B82E"/>
          </a:solidFill>
          <a:ln/>
        </p:spPr>
      </p:sp>
      <p:sp>
        <p:nvSpPr>
          <p:cNvPr id="10" name="Text 8"/>
          <p:cNvSpPr/>
          <p:nvPr/>
        </p:nvSpPr>
        <p:spPr>
          <a:xfrm>
            <a:off x="3976026" y="6036601"/>
            <a:ext cx="419100" cy="173567"/>
          </a:xfrm>
          <a:prstGeom prst="rect">
            <a:avLst/>
          </a:prstGeom>
          <a:noFill/>
          <a:ln/>
        </p:spPr>
        <p:txBody>
          <a:bodyPr wrap="square" lIns="25400" tIns="25400" rIns="25400" bIns="25400" rtlCol="0" anchor="t">
            <a:normAutofit/>
          </a:bodyPr>
          <a:lstStyle/>
          <a:p>
            <a:pPr marL="0" indent="0" algn="l">
              <a:buNone/>
            </a:pPr>
            <a:r>
              <a:rPr lang="en-US" sz="825" b="1" dirty="0">
                <a:solidFill>
                  <a:srgbClr val="0B0907"/>
                </a:solidFill>
                <a:latin typeface="Arial" pitchFamily="34" charset="0"/>
                <a:ea typeface="Arial" pitchFamily="34" charset="-122"/>
                <a:cs typeface="Arial" pitchFamily="34" charset="-120"/>
              </a:rPr>
              <a:t>★ Rare</a:t>
            </a:r>
            <a:endParaRPr lang="en-US" sz="825" dirty="0"/>
          </a:p>
        </p:txBody>
      </p:sp>
      <p:sp>
        <p:nvSpPr>
          <p:cNvPr id="11" name="Text 9"/>
          <p:cNvSpPr/>
          <p:nvPr/>
        </p:nvSpPr>
        <p:spPr>
          <a:xfrm>
            <a:off x="3230298" y="6333993"/>
            <a:ext cx="3100197"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Sac Lancel années 90</a:t>
            </a:r>
            <a:endParaRPr lang="en-US" sz="1800" dirty="0"/>
          </a:p>
        </p:txBody>
      </p:sp>
      <p:sp>
        <p:nvSpPr>
          <p:cNvPr id="12" name="Text 10"/>
          <p:cNvSpPr/>
          <p:nvPr/>
        </p:nvSpPr>
        <p:spPr>
          <a:xfrm>
            <a:off x="3230298" y="6651493"/>
            <a:ext cx="3100197" cy="156633"/>
          </a:xfrm>
          <a:prstGeom prst="rect">
            <a:avLst/>
          </a:prstGeom>
          <a:noFill/>
          <a:ln/>
        </p:spPr>
        <p:txBody>
          <a:bodyPr wrap="square" lIns="25400" tIns="25400" rIns="25400" bIns="25400" rtlCol="0" anchor="t">
            <a:normAutofit/>
          </a:bodyPr>
          <a:lstStyle/>
          <a:p>
            <a:pPr marL="0" indent="0" algn="l">
              <a:buNone/>
            </a:pPr>
            <a:r>
              <a:rPr lang="en-US" sz="825" dirty="0">
                <a:solidFill>
                  <a:srgbClr val="A99680"/>
                </a:solidFill>
                <a:latin typeface="Arial" pitchFamily="34" charset="0"/>
                <a:ea typeface="Arial" pitchFamily="34" charset="-122"/>
                <a:cs typeface="Arial" pitchFamily="34" charset="-120"/>
              </a:rPr>
              <a:t>Cuir cognac · État très bon</a:t>
            </a:r>
            <a:endParaRPr lang="en-US" sz="825" dirty="0"/>
          </a:p>
        </p:txBody>
      </p:sp>
      <p:sp>
        <p:nvSpPr>
          <p:cNvPr id="13" name="Shape 11"/>
          <p:cNvSpPr/>
          <p:nvPr/>
        </p:nvSpPr>
        <p:spPr>
          <a:xfrm>
            <a:off x="3230298" y="6922426"/>
            <a:ext cx="3009900" cy="1037167"/>
          </a:xfrm>
          <a:prstGeom prst="roundRect">
            <a:avLst>
              <a:gd name="adj" fmla="val 12857"/>
            </a:avLst>
          </a:prstGeom>
          <a:solidFill>
            <a:srgbClr val="F5B82E">
              <a:alpha val="12000"/>
            </a:srgbClr>
          </a:solidFill>
          <a:ln w="8467">
            <a:solidFill>
              <a:srgbClr val="A87A1A"/>
            </a:solidFill>
            <a:prstDash val="solid"/>
          </a:ln>
        </p:spPr>
      </p:sp>
      <p:sp>
        <p:nvSpPr>
          <p:cNvPr id="14" name="Text 12"/>
          <p:cNvSpPr/>
          <p:nvPr/>
        </p:nvSpPr>
        <p:spPr>
          <a:xfrm>
            <a:off x="3391165" y="7083293"/>
            <a:ext cx="2768812" cy="139700"/>
          </a:xfrm>
          <a:prstGeom prst="rect">
            <a:avLst/>
          </a:prstGeom>
          <a:noFill/>
          <a:ln/>
        </p:spPr>
        <p:txBody>
          <a:bodyPr wrap="square" lIns="25400" tIns="25400" rIns="25400" bIns="25400" rtlCol="0" anchor="t">
            <a:normAutofit/>
          </a:bodyPr>
          <a:lstStyle/>
          <a:p>
            <a:pPr marL="0" indent="0" algn="l">
              <a:buNone/>
            </a:pPr>
            <a:r>
              <a:rPr lang="en-US" sz="750" kern="0" spc="135" dirty="0">
                <a:solidFill>
                  <a:srgbClr val="D9A024"/>
                </a:solidFill>
                <a:latin typeface="Arial" pitchFamily="34" charset="0"/>
                <a:ea typeface="Arial" pitchFamily="34" charset="-122"/>
                <a:cs typeface="Arial" pitchFamily="34" charset="-120"/>
              </a:rPr>
              <a:t>ESTIMATION</a:t>
            </a:r>
            <a:endParaRPr lang="en-US" sz="750" dirty="0"/>
          </a:p>
        </p:txBody>
      </p:sp>
      <p:sp>
        <p:nvSpPr>
          <p:cNvPr id="15" name="Text 13"/>
          <p:cNvSpPr/>
          <p:nvPr/>
        </p:nvSpPr>
        <p:spPr>
          <a:xfrm>
            <a:off x="3391165" y="7242043"/>
            <a:ext cx="2768812" cy="438150"/>
          </a:xfrm>
          <a:prstGeom prst="rect">
            <a:avLst/>
          </a:prstGeom>
          <a:noFill/>
          <a:ln/>
        </p:spPr>
        <p:txBody>
          <a:bodyPr wrap="square" lIns="25400" tIns="25400" rIns="25400" bIns="25400" rtlCol="0" anchor="t">
            <a:normAutofit/>
          </a:bodyPr>
          <a:lstStyle/>
          <a:p>
            <a:pPr marL="0" indent="0" algn="l">
              <a:lnSpc>
                <a:spcPct val="100000"/>
              </a:lnSpc>
              <a:buNone/>
            </a:pPr>
            <a:r>
              <a:rPr lang="en-US" sz="3150" dirty="0">
                <a:solidFill>
                  <a:srgbClr val="F5B82E"/>
                </a:solidFill>
                <a:latin typeface="Arial" pitchFamily="34" charset="0"/>
                <a:ea typeface="Arial" pitchFamily="34" charset="-122"/>
                <a:cs typeface="Arial" pitchFamily="34" charset="-120"/>
              </a:rPr>
              <a:t>68€</a:t>
            </a:r>
            <a:endParaRPr lang="en-US" sz="3150" dirty="0"/>
          </a:p>
        </p:txBody>
      </p:sp>
      <p:sp>
        <p:nvSpPr>
          <p:cNvPr id="16" name="Text 14"/>
          <p:cNvSpPr/>
          <p:nvPr/>
        </p:nvSpPr>
        <p:spPr>
          <a:xfrm>
            <a:off x="3391165" y="7680193"/>
            <a:ext cx="2768812" cy="156633"/>
          </a:xfrm>
          <a:prstGeom prst="rect">
            <a:avLst/>
          </a:prstGeom>
          <a:noFill/>
          <a:ln/>
        </p:spPr>
        <p:txBody>
          <a:bodyPr wrap="square" lIns="25400" tIns="25400" rIns="25400" bIns="25400" rtlCol="0" anchor="t">
            <a:normAutofit/>
          </a:bodyPr>
          <a:lstStyle/>
          <a:p>
            <a:pPr marL="0" indent="0" algn="l">
              <a:buNone/>
            </a:pPr>
            <a:r>
              <a:rPr lang="en-US" sz="825" dirty="0">
                <a:solidFill>
                  <a:srgbClr val="E0D4BA"/>
                </a:solidFill>
                <a:latin typeface="Arial" pitchFamily="34" charset="0"/>
                <a:ea typeface="Arial" pitchFamily="34" charset="-122"/>
                <a:cs typeface="Arial" pitchFamily="34" charset="-120"/>
              </a:rPr>
              <a:t>fourchette 55–85€ · 24 ventes récentes</a:t>
            </a:r>
            <a:endParaRPr lang="en-US" sz="825" dirty="0"/>
          </a:p>
        </p:txBody>
      </p:sp>
      <p:sp>
        <p:nvSpPr>
          <p:cNvPr id="17" name="Shape 15"/>
          <p:cNvSpPr/>
          <p:nvPr/>
        </p:nvSpPr>
        <p:spPr>
          <a:xfrm>
            <a:off x="3230298" y="9484651"/>
            <a:ext cx="3009900" cy="419100"/>
          </a:xfrm>
          <a:prstGeom prst="roundRect">
            <a:avLst>
              <a:gd name="adj" fmla="val 50000"/>
            </a:avLst>
          </a:prstGeom>
          <a:solidFill>
            <a:srgbClr val="F5B82E"/>
          </a:solidFill>
          <a:ln/>
        </p:spPr>
      </p:sp>
      <p:sp>
        <p:nvSpPr>
          <p:cNvPr id="18" name="Text 16"/>
          <p:cNvSpPr/>
          <p:nvPr/>
        </p:nvSpPr>
        <p:spPr>
          <a:xfrm>
            <a:off x="3318499" y="9618001"/>
            <a:ext cx="2833497" cy="190500"/>
          </a:xfrm>
          <a:prstGeom prst="rect">
            <a:avLst/>
          </a:prstGeom>
          <a:noFill/>
          <a:ln/>
        </p:spPr>
        <p:txBody>
          <a:bodyPr wrap="square" lIns="25400" tIns="25400" rIns="25400" bIns="25400" rtlCol="0" anchor="t">
            <a:normAutofit/>
          </a:bodyPr>
          <a:lstStyle/>
          <a:p>
            <a:pPr marL="0" indent="0" algn="ctr">
              <a:buNone/>
            </a:pPr>
            <a:r>
              <a:rPr lang="en-US" sz="975" b="1" dirty="0">
                <a:solidFill>
                  <a:srgbClr val="0B0907"/>
                </a:solidFill>
                <a:latin typeface="Arial" pitchFamily="34" charset="0"/>
                <a:ea typeface="Arial" pitchFamily="34" charset="-122"/>
                <a:cs typeface="Arial" pitchFamily="34" charset="-120"/>
              </a:rPr>
              <a:t>Mettre en vente à 68€</a:t>
            </a:r>
            <a:endParaRPr lang="en-US" sz="975" dirty="0"/>
          </a:p>
        </p:txBody>
      </p:sp>
      <p:sp>
        <p:nvSpPr>
          <p:cNvPr id="19" name="Text 17"/>
          <p:cNvSpPr/>
          <p:nvPr/>
        </p:nvSpPr>
        <p:spPr>
          <a:xfrm>
            <a:off x="9241896" y="4887251"/>
            <a:ext cx="838200" cy="586714"/>
          </a:xfrm>
          <a:prstGeom prst="rect">
            <a:avLst/>
          </a:prstGeom>
          <a:noFill/>
          <a:ln/>
        </p:spPr>
        <p:txBody>
          <a:bodyPr wrap="square" lIns="25400" tIns="25400" rIns="25400" bIns="25400" rtlCol="0" anchor="t">
            <a:normAutofit/>
          </a:bodyPr>
          <a:lstStyle/>
          <a:p>
            <a:pPr marL="0" indent="0" algn="l">
              <a:lnSpc>
                <a:spcPct val="90000"/>
              </a:lnSpc>
              <a:buNone/>
            </a:pPr>
            <a:r>
              <a:rPr lang="en-US" sz="4800" i="1" dirty="0">
                <a:solidFill>
                  <a:srgbClr val="F5B82E"/>
                </a:solidFill>
                <a:latin typeface="Arial" pitchFamily="34" charset="0"/>
                <a:ea typeface="Arial" pitchFamily="34" charset="-122"/>
                <a:cs typeface="Arial" pitchFamily="34" charset="-120"/>
              </a:rPr>
              <a:t>1.</a:t>
            </a:r>
            <a:endParaRPr lang="en-US" sz="4800" dirty="0"/>
          </a:p>
        </p:txBody>
      </p:sp>
      <p:sp>
        <p:nvSpPr>
          <p:cNvPr id="20" name="Text 18"/>
          <p:cNvSpPr/>
          <p:nvPr/>
        </p:nvSpPr>
        <p:spPr>
          <a:xfrm>
            <a:off x="10232496" y="4887251"/>
            <a:ext cx="7103937" cy="410633"/>
          </a:xfrm>
          <a:prstGeom prst="rect">
            <a:avLst/>
          </a:prstGeom>
          <a:noFill/>
          <a:ln/>
        </p:spPr>
        <p:txBody>
          <a:bodyPr wrap="square" lIns="25400" tIns="25400" rIns="25400" bIns="25400" rtlCol="0" anchor="t">
            <a:normAutofit/>
          </a:bodyPr>
          <a:lstStyle/>
          <a:p>
            <a:pPr marL="0" indent="0" algn="l">
              <a:buNone/>
            </a:pPr>
            <a:r>
              <a:rPr lang="en-US" sz="2400" dirty="0">
                <a:solidFill>
                  <a:srgbClr val="FAF6EC"/>
                </a:solidFill>
                <a:latin typeface="Arial" pitchFamily="34" charset="0"/>
                <a:ea typeface="Arial" pitchFamily="34" charset="-122"/>
                <a:cs typeface="Arial" pitchFamily="34" charset="-120"/>
              </a:rPr>
              <a:t>Scan en 0,8 seconde</a:t>
            </a:r>
            <a:endParaRPr lang="en-US" sz="2400" dirty="0"/>
          </a:p>
        </p:txBody>
      </p:sp>
      <p:sp>
        <p:nvSpPr>
          <p:cNvPr id="21" name="Text 19"/>
          <p:cNvSpPr/>
          <p:nvPr/>
        </p:nvSpPr>
        <p:spPr>
          <a:xfrm>
            <a:off x="10232496" y="5335984"/>
            <a:ext cx="7103937" cy="295275"/>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F1EAD9">
                    <a:alpha val="80000"/>
                  </a:srgbClr>
                </a:solidFill>
                <a:latin typeface="Arial" pitchFamily="34" charset="0"/>
                <a:ea typeface="Arial" pitchFamily="34" charset="-122"/>
                <a:cs typeface="Arial" pitchFamily="34" charset="-120"/>
              </a:rPr>
              <a:t>Vision par ordinateur entraînée sur 4M de produits. Reconnaissance marque, modèle, état.</a:t>
            </a:r>
            <a:endParaRPr lang="en-US" sz="1350" dirty="0"/>
          </a:p>
        </p:txBody>
      </p:sp>
      <p:sp>
        <p:nvSpPr>
          <p:cNvPr id="22" name="Text 20"/>
          <p:cNvSpPr/>
          <p:nvPr/>
        </p:nvSpPr>
        <p:spPr>
          <a:xfrm>
            <a:off x="9241896" y="5936059"/>
            <a:ext cx="838200" cy="586714"/>
          </a:xfrm>
          <a:prstGeom prst="rect">
            <a:avLst/>
          </a:prstGeom>
          <a:noFill/>
          <a:ln/>
        </p:spPr>
        <p:txBody>
          <a:bodyPr wrap="square" lIns="25400" tIns="25400" rIns="25400" bIns="25400" rtlCol="0" anchor="t">
            <a:normAutofit/>
          </a:bodyPr>
          <a:lstStyle/>
          <a:p>
            <a:pPr marL="0" indent="0" algn="l">
              <a:lnSpc>
                <a:spcPct val="90000"/>
              </a:lnSpc>
              <a:buNone/>
            </a:pPr>
            <a:r>
              <a:rPr lang="en-US" sz="4800" i="1" dirty="0">
                <a:solidFill>
                  <a:srgbClr val="F5B82E"/>
                </a:solidFill>
                <a:latin typeface="Arial" pitchFamily="34" charset="0"/>
                <a:ea typeface="Arial" pitchFamily="34" charset="-122"/>
                <a:cs typeface="Arial" pitchFamily="34" charset="-120"/>
              </a:rPr>
              <a:t>2.</a:t>
            </a:r>
            <a:endParaRPr lang="en-US" sz="4800" dirty="0"/>
          </a:p>
        </p:txBody>
      </p:sp>
      <p:sp>
        <p:nvSpPr>
          <p:cNvPr id="23" name="Text 21"/>
          <p:cNvSpPr/>
          <p:nvPr/>
        </p:nvSpPr>
        <p:spPr>
          <a:xfrm>
            <a:off x="10232496" y="5936059"/>
            <a:ext cx="7119879" cy="410633"/>
          </a:xfrm>
          <a:prstGeom prst="rect">
            <a:avLst/>
          </a:prstGeom>
          <a:noFill/>
          <a:ln/>
        </p:spPr>
        <p:txBody>
          <a:bodyPr wrap="square" lIns="25400" tIns="25400" rIns="25400" bIns="25400" rtlCol="0" anchor="t">
            <a:normAutofit/>
          </a:bodyPr>
          <a:lstStyle/>
          <a:p>
            <a:pPr marL="0" indent="0" algn="l">
              <a:buNone/>
            </a:pPr>
            <a:r>
              <a:rPr lang="en-US" sz="2400" dirty="0">
                <a:solidFill>
                  <a:srgbClr val="FAF6EC"/>
                </a:solidFill>
                <a:latin typeface="Arial" pitchFamily="34" charset="0"/>
                <a:ea typeface="Arial" pitchFamily="34" charset="-122"/>
                <a:cs typeface="Arial" pitchFamily="34" charset="-120"/>
              </a:rPr>
              <a:t>Prix sur ventes réelles</a:t>
            </a:r>
            <a:endParaRPr lang="en-US" sz="2400" dirty="0"/>
          </a:p>
        </p:txBody>
      </p:sp>
      <p:sp>
        <p:nvSpPr>
          <p:cNvPr id="24" name="Text 22"/>
          <p:cNvSpPr/>
          <p:nvPr/>
        </p:nvSpPr>
        <p:spPr>
          <a:xfrm>
            <a:off x="10232496" y="6384793"/>
            <a:ext cx="7119879" cy="552450"/>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F1EAD9">
                    <a:alpha val="80000"/>
                  </a:srgbClr>
                </a:solidFill>
                <a:latin typeface="Arial" pitchFamily="34" charset="0"/>
                <a:ea typeface="Arial" pitchFamily="34" charset="-122"/>
                <a:cs typeface="Arial" pitchFamily="34" charset="-120"/>
              </a:rPr>
              <a:t>Indexation continue de Vinted, eBay, Vestiaire, Leboncoin. La fourchette s'ajuste à la semaine.</a:t>
            </a:r>
            <a:endParaRPr lang="en-US" sz="1350" dirty="0"/>
          </a:p>
        </p:txBody>
      </p:sp>
      <p:sp>
        <p:nvSpPr>
          <p:cNvPr id="25" name="Text 23"/>
          <p:cNvSpPr/>
          <p:nvPr/>
        </p:nvSpPr>
        <p:spPr>
          <a:xfrm>
            <a:off x="9241896" y="7242043"/>
            <a:ext cx="838200" cy="586714"/>
          </a:xfrm>
          <a:prstGeom prst="rect">
            <a:avLst/>
          </a:prstGeom>
          <a:noFill/>
          <a:ln/>
        </p:spPr>
        <p:txBody>
          <a:bodyPr wrap="square" lIns="25400" tIns="25400" rIns="25400" bIns="25400" rtlCol="0" anchor="t">
            <a:normAutofit/>
          </a:bodyPr>
          <a:lstStyle/>
          <a:p>
            <a:pPr marL="0" indent="0" algn="l">
              <a:lnSpc>
                <a:spcPct val="90000"/>
              </a:lnSpc>
              <a:buNone/>
            </a:pPr>
            <a:r>
              <a:rPr lang="en-US" sz="4800" i="1" dirty="0">
                <a:solidFill>
                  <a:srgbClr val="F5B82E"/>
                </a:solidFill>
                <a:latin typeface="Arial" pitchFamily="34" charset="0"/>
                <a:ea typeface="Arial" pitchFamily="34" charset="-122"/>
                <a:cs typeface="Arial" pitchFamily="34" charset="-120"/>
              </a:rPr>
              <a:t>3.</a:t>
            </a:r>
            <a:endParaRPr lang="en-US" sz="4800" dirty="0"/>
          </a:p>
        </p:txBody>
      </p:sp>
      <p:sp>
        <p:nvSpPr>
          <p:cNvPr id="26" name="Text 24"/>
          <p:cNvSpPr/>
          <p:nvPr/>
        </p:nvSpPr>
        <p:spPr>
          <a:xfrm>
            <a:off x="10232496" y="7242043"/>
            <a:ext cx="6309130" cy="410633"/>
          </a:xfrm>
          <a:prstGeom prst="rect">
            <a:avLst/>
          </a:prstGeom>
          <a:noFill/>
          <a:ln/>
        </p:spPr>
        <p:txBody>
          <a:bodyPr wrap="square" lIns="25400" tIns="25400" rIns="25400" bIns="25400" rtlCol="0" anchor="t">
            <a:normAutofit/>
          </a:bodyPr>
          <a:lstStyle/>
          <a:p>
            <a:pPr marL="0" indent="0" algn="l">
              <a:buNone/>
            </a:pPr>
            <a:r>
              <a:rPr lang="en-US" sz="2400" dirty="0">
                <a:solidFill>
                  <a:srgbClr val="FAF6EC"/>
                </a:solidFill>
                <a:latin typeface="Arial" pitchFamily="34" charset="0"/>
                <a:ea typeface="Arial" pitchFamily="34" charset="-122"/>
                <a:cs typeface="Arial" pitchFamily="34" charset="-120"/>
              </a:rPr>
              <a:t>Annonce auto-générée</a:t>
            </a:r>
            <a:endParaRPr lang="en-US" sz="2400" dirty="0"/>
          </a:p>
        </p:txBody>
      </p:sp>
      <p:sp>
        <p:nvSpPr>
          <p:cNvPr id="27" name="Text 25"/>
          <p:cNvSpPr/>
          <p:nvPr/>
        </p:nvSpPr>
        <p:spPr>
          <a:xfrm>
            <a:off x="10232496" y="7690776"/>
            <a:ext cx="6309130" cy="295275"/>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F1EAD9">
                    <a:alpha val="80000"/>
                  </a:srgbClr>
                </a:solidFill>
                <a:latin typeface="Arial" pitchFamily="34" charset="0"/>
                <a:ea typeface="Arial" pitchFamily="34" charset="-122"/>
                <a:cs typeface="Arial" pitchFamily="34" charset="-120"/>
              </a:rPr>
              <a:t>Titre, descriptif, mots-clés SEO, photos retouchées. L'utilisateur valide en un tap.</a:t>
            </a:r>
            <a:endParaRPr lang="en-US" sz="1350" dirty="0"/>
          </a:p>
        </p:txBody>
      </p:sp>
      <p:sp>
        <p:nvSpPr>
          <p:cNvPr id="28" name="Shape 26"/>
          <p:cNvSpPr/>
          <p:nvPr/>
        </p:nvSpPr>
        <p:spPr>
          <a:xfrm>
            <a:off x="1143000" y="9357783"/>
            <a:ext cx="16002000" cy="9525"/>
          </a:xfrm>
          <a:prstGeom prst="rect">
            <a:avLst/>
          </a:prstGeom>
          <a:solidFill>
            <a:srgbClr val="F5B82E">
              <a:alpha val="10000"/>
            </a:srgbClr>
          </a:solidFill>
          <a:ln/>
        </p:spPr>
      </p:sp>
      <p:sp>
        <p:nvSpPr>
          <p:cNvPr id="29" name="Text 27"/>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30" name="Text 28"/>
          <p:cNvSpPr/>
          <p:nvPr/>
        </p:nvSpPr>
        <p:spPr>
          <a:xfrm>
            <a:off x="15942469" y="9635067"/>
            <a:ext cx="1278731"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05 / 12 — DÉMO</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05 — ENGAGEMENT</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On ne vend pas, </a:t>
            </a:r>
            <a:r>
              <a:rPr lang="en-US" sz="6600" i="1" kern="0" spc="-132" dirty="0">
                <a:solidFill>
                  <a:srgbClr val="F5B82E"/>
                </a:solidFill>
                <a:latin typeface="Arial" pitchFamily="34" charset="0"/>
                <a:ea typeface="Arial" pitchFamily="34" charset="-122"/>
                <a:cs typeface="Arial" pitchFamily="34" charset="-120"/>
              </a:rPr>
              <a:t>on découvre.</a:t>
            </a:r>
            <a:endParaRPr lang="en-US" sz="6600" dirty="0"/>
          </a:p>
        </p:txBody>
      </p:sp>
      <p:sp>
        <p:nvSpPr>
          <p:cNvPr id="4" name="Text 2"/>
          <p:cNvSpPr/>
          <p:nvPr/>
        </p:nvSpPr>
        <p:spPr>
          <a:xfrm>
            <a:off x="1143000" y="2412603"/>
            <a:ext cx="10791825"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F1EAD9"/>
                </a:solidFill>
                <a:latin typeface="Arial" pitchFamily="34" charset="0"/>
                <a:ea typeface="Arial" pitchFamily="34" charset="-122"/>
                <a:cs typeface="Arial" pitchFamily="34" charset="-120"/>
              </a:rPr>
              <a:t>Le scan transforme l'app en jeu. Combien vaut ce vase ? Cette console ? Ce livre ? Chaque objet identifié comme rare déclenche un badge « Pépite ». La rétention vient du jeu, pas du besoin de vendre.</a:t>
            </a:r>
            <a:endParaRPr lang="en-US" sz="2250" dirty="0"/>
          </a:p>
        </p:txBody>
      </p:sp>
      <p:sp>
        <p:nvSpPr>
          <p:cNvPr id="5" name="Shape 3"/>
          <p:cNvSpPr/>
          <p:nvPr/>
        </p:nvSpPr>
        <p:spPr>
          <a:xfrm>
            <a:off x="1143000" y="4155678"/>
            <a:ext cx="3857625" cy="5293122"/>
          </a:xfrm>
          <a:prstGeom prst="roundRect">
            <a:avLst>
              <a:gd name="adj" fmla="val 4938"/>
            </a:avLst>
          </a:prstGeom>
          <a:solidFill>
            <a:srgbClr val="110D08"/>
          </a:solidFill>
          <a:ln w="8467">
            <a:solidFill>
              <a:srgbClr val="F5B82E">
                <a:alpha val="8000"/>
              </a:srgbClr>
            </a:solidFill>
            <a:prstDash val="solid"/>
          </a:ln>
        </p:spPr>
      </p:sp>
      <p:pic>
        <p:nvPicPr>
          <p:cNvPr id="6" name="Image 0" descr="preencoded.png"/>
          <p:cNvPicPr>
            <a:picLocks noChangeAspect="1"/>
          </p:cNvPicPr>
          <p:nvPr/>
        </p:nvPicPr>
        <p:blipFill>
          <a:blip r:embed="rId3"/>
          <a:stretch>
            <a:fillRect/>
          </a:stretch>
        </p:blipFill>
        <p:spPr>
          <a:xfrm>
            <a:off x="1494367" y="4507045"/>
            <a:ext cx="381000" cy="381000"/>
          </a:xfrm>
          <a:prstGeom prst="rect">
            <a:avLst/>
          </a:prstGeom>
        </p:spPr>
      </p:pic>
      <p:sp>
        <p:nvSpPr>
          <p:cNvPr id="7" name="Text 4"/>
          <p:cNvSpPr/>
          <p:nvPr/>
        </p:nvSpPr>
        <p:spPr>
          <a:xfrm>
            <a:off x="1494367" y="5158978"/>
            <a:ext cx="3249538" cy="335227"/>
          </a:xfrm>
          <a:prstGeom prst="rect">
            <a:avLst/>
          </a:prstGeom>
          <a:noFill/>
          <a:ln/>
        </p:spPr>
        <p:txBody>
          <a:bodyPr wrap="square" lIns="25400" tIns="25400" rIns="25400" bIns="25400" rtlCol="0" anchor="t">
            <a:normAutofit/>
          </a:bodyPr>
          <a:lstStyle/>
          <a:p>
            <a:pPr marL="0" indent="0" algn="l">
              <a:lnSpc>
                <a:spcPct val="120000"/>
              </a:lnSpc>
              <a:buNone/>
            </a:pPr>
            <a:r>
              <a:rPr lang="en-US" sz="1950" dirty="0">
                <a:solidFill>
                  <a:srgbClr val="FAF6EC"/>
                </a:solidFill>
                <a:latin typeface="Arial" pitchFamily="34" charset="0"/>
                <a:ea typeface="Arial" pitchFamily="34" charset="-122"/>
                <a:cs typeface="Arial" pitchFamily="34" charset="-120"/>
              </a:rPr>
              <a:t>Scan compulsif</a:t>
            </a:r>
            <a:endParaRPr lang="en-US" sz="1950" dirty="0"/>
          </a:p>
        </p:txBody>
      </p:sp>
      <p:sp>
        <p:nvSpPr>
          <p:cNvPr id="8" name="Text 5"/>
          <p:cNvSpPr/>
          <p:nvPr/>
        </p:nvSpPr>
        <p:spPr>
          <a:xfrm>
            <a:off x="1494367" y="5551355"/>
            <a:ext cx="3249538" cy="702469"/>
          </a:xfrm>
          <a:prstGeom prst="rect">
            <a:avLst/>
          </a:prstGeom>
          <a:noFill/>
          <a:ln/>
        </p:spPr>
        <p:txBody>
          <a:bodyPr wrap="square" lIns="25400" tIns="25400" rIns="25400" bIns="25400" rtlCol="0" anchor="t">
            <a:normAutofit/>
          </a:bodyPr>
          <a:lstStyle/>
          <a:p>
            <a:pPr marL="0" indent="0" algn="l">
              <a:lnSpc>
                <a:spcPct val="155000"/>
              </a:lnSpc>
              <a:buNone/>
            </a:pPr>
            <a:r>
              <a:rPr lang="en-US" sz="1125" dirty="0">
                <a:solidFill>
                  <a:srgbClr val="F1EAD9">
                    <a:alpha val="75000"/>
                  </a:srgbClr>
                </a:solidFill>
                <a:latin typeface="Arial" pitchFamily="34" charset="0"/>
                <a:ea typeface="Arial" pitchFamily="34" charset="-122"/>
                <a:cs typeface="Arial" pitchFamily="34" charset="-120"/>
              </a:rPr>
              <a:t>L'utilisateur scanne en moyenne 14 objets avant sa première vente. Chaque scan génère de la donnée, gratuitement.</a:t>
            </a:r>
            <a:endParaRPr lang="en-US" sz="1125" dirty="0"/>
          </a:p>
        </p:txBody>
      </p:sp>
      <p:sp>
        <p:nvSpPr>
          <p:cNvPr id="9" name="Text 6"/>
          <p:cNvSpPr/>
          <p:nvPr/>
        </p:nvSpPr>
        <p:spPr>
          <a:xfrm>
            <a:off x="1494367" y="8487834"/>
            <a:ext cx="3249538"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i="1" kern="0" spc="-96" dirty="0">
                <a:solidFill>
                  <a:srgbClr val="F5B82E"/>
                </a:solidFill>
                <a:latin typeface="Arial" pitchFamily="34" charset="0"/>
                <a:ea typeface="Arial" pitchFamily="34" charset="-122"/>
                <a:cs typeface="Arial" pitchFamily="34" charset="-120"/>
              </a:rPr>
              <a:t>×14</a:t>
            </a:r>
            <a:endParaRPr lang="en-US" sz="4800" dirty="0"/>
          </a:p>
        </p:txBody>
      </p:sp>
      <p:sp>
        <p:nvSpPr>
          <p:cNvPr id="10" name="Shape 7"/>
          <p:cNvSpPr/>
          <p:nvPr/>
        </p:nvSpPr>
        <p:spPr>
          <a:xfrm>
            <a:off x="5191125" y="4155678"/>
            <a:ext cx="3857625" cy="5293122"/>
          </a:xfrm>
          <a:prstGeom prst="roundRect">
            <a:avLst>
              <a:gd name="adj" fmla="val 4938"/>
            </a:avLst>
          </a:prstGeom>
          <a:solidFill>
            <a:srgbClr val="110D08"/>
          </a:solidFill>
          <a:ln w="8467">
            <a:solidFill>
              <a:srgbClr val="F5B82E">
                <a:alpha val="8000"/>
              </a:srgbClr>
            </a:solidFill>
            <a:prstDash val="solid"/>
          </a:ln>
        </p:spPr>
      </p:sp>
      <p:pic>
        <p:nvPicPr>
          <p:cNvPr id="11" name="Image 1" descr="preencoded.png"/>
          <p:cNvPicPr>
            <a:picLocks noChangeAspect="1"/>
          </p:cNvPicPr>
          <p:nvPr/>
        </p:nvPicPr>
        <p:blipFill>
          <a:blip r:embed="rId4"/>
          <a:stretch>
            <a:fillRect/>
          </a:stretch>
        </p:blipFill>
        <p:spPr>
          <a:xfrm>
            <a:off x="5542492" y="4507045"/>
            <a:ext cx="381000" cy="381000"/>
          </a:xfrm>
          <a:prstGeom prst="rect">
            <a:avLst/>
          </a:prstGeom>
        </p:spPr>
      </p:pic>
      <p:sp>
        <p:nvSpPr>
          <p:cNvPr id="12" name="Text 8"/>
          <p:cNvSpPr/>
          <p:nvPr/>
        </p:nvSpPr>
        <p:spPr>
          <a:xfrm>
            <a:off x="5542492" y="5158978"/>
            <a:ext cx="3249538" cy="335227"/>
          </a:xfrm>
          <a:prstGeom prst="rect">
            <a:avLst/>
          </a:prstGeom>
          <a:noFill/>
          <a:ln/>
        </p:spPr>
        <p:txBody>
          <a:bodyPr wrap="square" lIns="25400" tIns="25400" rIns="25400" bIns="25400" rtlCol="0" anchor="t">
            <a:normAutofit/>
          </a:bodyPr>
          <a:lstStyle/>
          <a:p>
            <a:pPr marL="0" indent="0" algn="l">
              <a:lnSpc>
                <a:spcPct val="120000"/>
              </a:lnSpc>
              <a:buNone/>
            </a:pPr>
            <a:r>
              <a:rPr lang="en-US" sz="1950" dirty="0">
                <a:solidFill>
                  <a:srgbClr val="FAF6EC"/>
                </a:solidFill>
                <a:latin typeface="Arial" pitchFamily="34" charset="0"/>
                <a:ea typeface="Arial" pitchFamily="34" charset="-122"/>
                <a:cs typeface="Arial" pitchFamily="34" charset="-120"/>
              </a:rPr>
              <a:t>Badges « Pépite »</a:t>
            </a:r>
            <a:endParaRPr lang="en-US" sz="1950" dirty="0"/>
          </a:p>
        </p:txBody>
      </p:sp>
      <p:sp>
        <p:nvSpPr>
          <p:cNvPr id="13" name="Text 9"/>
          <p:cNvSpPr/>
          <p:nvPr/>
        </p:nvSpPr>
        <p:spPr>
          <a:xfrm>
            <a:off x="5542492" y="5551355"/>
            <a:ext cx="3249538" cy="702469"/>
          </a:xfrm>
          <a:prstGeom prst="rect">
            <a:avLst/>
          </a:prstGeom>
          <a:noFill/>
          <a:ln/>
        </p:spPr>
        <p:txBody>
          <a:bodyPr wrap="square" lIns="25400" tIns="25400" rIns="25400" bIns="25400" rtlCol="0" anchor="t">
            <a:normAutofit/>
          </a:bodyPr>
          <a:lstStyle/>
          <a:p>
            <a:pPr marL="0" indent="0" algn="l">
              <a:lnSpc>
                <a:spcPct val="155000"/>
              </a:lnSpc>
              <a:buNone/>
            </a:pPr>
            <a:r>
              <a:rPr lang="en-US" sz="1125" dirty="0">
                <a:solidFill>
                  <a:srgbClr val="F1EAD9">
                    <a:alpha val="75000"/>
                  </a:srgbClr>
                </a:solidFill>
                <a:latin typeface="Arial" pitchFamily="34" charset="0"/>
                <a:ea typeface="Arial" pitchFamily="34" charset="-122"/>
                <a:cs typeface="Arial" pitchFamily="34" charset="-120"/>
              </a:rPr>
              <a:t>Les objets rares déclenchent une animation et un partage social pré-rédigé. Mécanique de collection.</a:t>
            </a:r>
            <a:endParaRPr lang="en-US" sz="1125" dirty="0"/>
          </a:p>
        </p:txBody>
      </p:sp>
      <p:sp>
        <p:nvSpPr>
          <p:cNvPr id="14" name="Text 10"/>
          <p:cNvSpPr/>
          <p:nvPr/>
        </p:nvSpPr>
        <p:spPr>
          <a:xfrm>
            <a:off x="5542492" y="8487834"/>
            <a:ext cx="3249538"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i="1" kern="0" spc="-96" dirty="0">
                <a:solidFill>
                  <a:srgbClr val="F5B82E"/>
                </a:solidFill>
                <a:latin typeface="Arial" pitchFamily="34" charset="0"/>
                <a:ea typeface="Arial" pitchFamily="34" charset="-122"/>
                <a:cs typeface="Arial" pitchFamily="34" charset="-120"/>
              </a:rPr>
              <a:t>38%</a:t>
            </a:r>
            <a:endParaRPr lang="en-US" sz="4800" dirty="0"/>
          </a:p>
        </p:txBody>
      </p:sp>
      <p:sp>
        <p:nvSpPr>
          <p:cNvPr id="15" name="Shape 11"/>
          <p:cNvSpPr/>
          <p:nvPr/>
        </p:nvSpPr>
        <p:spPr>
          <a:xfrm>
            <a:off x="9239250" y="4155678"/>
            <a:ext cx="3857625" cy="5293122"/>
          </a:xfrm>
          <a:prstGeom prst="roundRect">
            <a:avLst>
              <a:gd name="adj" fmla="val 4938"/>
            </a:avLst>
          </a:prstGeom>
          <a:solidFill>
            <a:srgbClr val="110D08"/>
          </a:solidFill>
          <a:ln w="8467">
            <a:solidFill>
              <a:srgbClr val="F5B82E">
                <a:alpha val="8000"/>
              </a:srgbClr>
            </a:solidFill>
            <a:prstDash val="solid"/>
          </a:ln>
        </p:spPr>
      </p:sp>
      <p:pic>
        <p:nvPicPr>
          <p:cNvPr id="16" name="Image 2" descr="preencoded.png"/>
          <p:cNvPicPr>
            <a:picLocks noChangeAspect="1"/>
          </p:cNvPicPr>
          <p:nvPr/>
        </p:nvPicPr>
        <p:blipFill>
          <a:blip r:embed="rId5"/>
          <a:stretch>
            <a:fillRect/>
          </a:stretch>
        </p:blipFill>
        <p:spPr>
          <a:xfrm>
            <a:off x="9590617" y="4507045"/>
            <a:ext cx="381000" cy="381000"/>
          </a:xfrm>
          <a:prstGeom prst="rect">
            <a:avLst/>
          </a:prstGeom>
        </p:spPr>
      </p:pic>
      <p:sp>
        <p:nvSpPr>
          <p:cNvPr id="17" name="Text 12"/>
          <p:cNvSpPr/>
          <p:nvPr/>
        </p:nvSpPr>
        <p:spPr>
          <a:xfrm>
            <a:off x="9590617" y="5158978"/>
            <a:ext cx="3249538" cy="335227"/>
          </a:xfrm>
          <a:prstGeom prst="rect">
            <a:avLst/>
          </a:prstGeom>
          <a:noFill/>
          <a:ln/>
        </p:spPr>
        <p:txBody>
          <a:bodyPr wrap="square" lIns="25400" tIns="25400" rIns="25400" bIns="25400" rtlCol="0" anchor="t">
            <a:normAutofit/>
          </a:bodyPr>
          <a:lstStyle/>
          <a:p>
            <a:pPr marL="0" indent="0" algn="l">
              <a:lnSpc>
                <a:spcPct val="120000"/>
              </a:lnSpc>
              <a:buNone/>
            </a:pPr>
            <a:r>
              <a:rPr lang="en-US" sz="1950" dirty="0">
                <a:solidFill>
                  <a:srgbClr val="FAF6EC"/>
                </a:solidFill>
                <a:latin typeface="Arial" pitchFamily="34" charset="0"/>
                <a:ea typeface="Arial" pitchFamily="34" charset="-122"/>
                <a:cs typeface="Arial" pitchFamily="34" charset="-120"/>
              </a:rPr>
              <a:t>Viralité native</a:t>
            </a:r>
            <a:endParaRPr lang="en-US" sz="1950" dirty="0"/>
          </a:p>
        </p:txBody>
      </p:sp>
      <p:sp>
        <p:nvSpPr>
          <p:cNvPr id="18" name="Text 13"/>
          <p:cNvSpPr/>
          <p:nvPr/>
        </p:nvSpPr>
        <p:spPr>
          <a:xfrm>
            <a:off x="9590617" y="5551355"/>
            <a:ext cx="3249538" cy="702469"/>
          </a:xfrm>
          <a:prstGeom prst="rect">
            <a:avLst/>
          </a:prstGeom>
          <a:noFill/>
          <a:ln/>
        </p:spPr>
        <p:txBody>
          <a:bodyPr wrap="square" lIns="25400" tIns="25400" rIns="25400" bIns="25400" rtlCol="0" anchor="t">
            <a:normAutofit/>
          </a:bodyPr>
          <a:lstStyle/>
          <a:p>
            <a:pPr marL="0" indent="0" algn="l">
              <a:lnSpc>
                <a:spcPct val="155000"/>
              </a:lnSpc>
              <a:buNone/>
            </a:pPr>
            <a:r>
              <a:rPr lang="en-US" sz="1125" dirty="0">
                <a:solidFill>
                  <a:srgbClr val="F1EAD9">
                    <a:alpha val="75000"/>
                  </a:srgbClr>
                </a:solidFill>
                <a:latin typeface="Arial" pitchFamily="34" charset="0"/>
                <a:ea typeface="Arial" pitchFamily="34" charset="-122"/>
                <a:cs typeface="Arial" pitchFamily="34" charset="-120"/>
              </a:rPr>
              <a:t>Le format « scanne ce qu'il y a chez toi » est nativement viral sur TikTok et Instagram. Coût zéro.</a:t>
            </a:r>
            <a:endParaRPr lang="en-US" sz="1125" dirty="0"/>
          </a:p>
        </p:txBody>
      </p:sp>
      <p:sp>
        <p:nvSpPr>
          <p:cNvPr id="19" name="Text 14"/>
          <p:cNvSpPr/>
          <p:nvPr/>
        </p:nvSpPr>
        <p:spPr>
          <a:xfrm>
            <a:off x="9590617" y="8487834"/>
            <a:ext cx="3249538"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i="1" kern="0" spc="-96" dirty="0">
                <a:solidFill>
                  <a:srgbClr val="F5B82E"/>
                </a:solidFill>
                <a:latin typeface="Arial" pitchFamily="34" charset="0"/>
                <a:ea typeface="Arial" pitchFamily="34" charset="-122"/>
                <a:cs typeface="Arial" pitchFamily="34" charset="-120"/>
              </a:rPr>
              <a:t>2.4×</a:t>
            </a:r>
            <a:endParaRPr lang="en-US" sz="4800" dirty="0"/>
          </a:p>
        </p:txBody>
      </p:sp>
      <p:sp>
        <p:nvSpPr>
          <p:cNvPr id="20" name="Shape 15"/>
          <p:cNvSpPr/>
          <p:nvPr/>
        </p:nvSpPr>
        <p:spPr>
          <a:xfrm>
            <a:off x="13287375" y="4155678"/>
            <a:ext cx="3857625" cy="5293122"/>
          </a:xfrm>
          <a:prstGeom prst="roundRect">
            <a:avLst>
              <a:gd name="adj" fmla="val 4938"/>
            </a:avLst>
          </a:prstGeom>
          <a:solidFill>
            <a:srgbClr val="110D08"/>
          </a:solidFill>
          <a:ln w="8467">
            <a:solidFill>
              <a:srgbClr val="F5B82E">
                <a:alpha val="8000"/>
              </a:srgbClr>
            </a:solidFill>
            <a:prstDash val="solid"/>
          </a:ln>
        </p:spPr>
      </p:sp>
      <p:pic>
        <p:nvPicPr>
          <p:cNvPr id="21" name="Image 3" descr="preencoded.png"/>
          <p:cNvPicPr>
            <a:picLocks noChangeAspect="1"/>
          </p:cNvPicPr>
          <p:nvPr/>
        </p:nvPicPr>
        <p:blipFill>
          <a:blip r:embed="rId6"/>
          <a:stretch>
            <a:fillRect/>
          </a:stretch>
        </p:blipFill>
        <p:spPr>
          <a:xfrm>
            <a:off x="13638742" y="4507045"/>
            <a:ext cx="381000" cy="381000"/>
          </a:xfrm>
          <a:prstGeom prst="rect">
            <a:avLst/>
          </a:prstGeom>
        </p:spPr>
      </p:pic>
      <p:sp>
        <p:nvSpPr>
          <p:cNvPr id="22" name="Text 16"/>
          <p:cNvSpPr/>
          <p:nvPr/>
        </p:nvSpPr>
        <p:spPr>
          <a:xfrm>
            <a:off x="13638742" y="5158978"/>
            <a:ext cx="3249538" cy="335227"/>
          </a:xfrm>
          <a:prstGeom prst="rect">
            <a:avLst/>
          </a:prstGeom>
          <a:noFill/>
          <a:ln/>
        </p:spPr>
        <p:txBody>
          <a:bodyPr wrap="square" lIns="25400" tIns="25400" rIns="25400" bIns="25400" rtlCol="0" anchor="t">
            <a:normAutofit/>
          </a:bodyPr>
          <a:lstStyle/>
          <a:p>
            <a:pPr marL="0" indent="0" algn="l">
              <a:lnSpc>
                <a:spcPct val="120000"/>
              </a:lnSpc>
              <a:buNone/>
            </a:pPr>
            <a:r>
              <a:rPr lang="en-US" sz="1950" dirty="0">
                <a:solidFill>
                  <a:srgbClr val="FAF6EC"/>
                </a:solidFill>
                <a:latin typeface="Arial" pitchFamily="34" charset="0"/>
                <a:ea typeface="Arial" pitchFamily="34" charset="-122"/>
                <a:cs typeface="Arial" pitchFamily="34" charset="-120"/>
              </a:rPr>
              <a:t>Rétention D30</a:t>
            </a:r>
            <a:endParaRPr lang="en-US" sz="1950" dirty="0"/>
          </a:p>
        </p:txBody>
      </p:sp>
      <p:sp>
        <p:nvSpPr>
          <p:cNvPr id="23" name="Text 17"/>
          <p:cNvSpPr/>
          <p:nvPr/>
        </p:nvSpPr>
        <p:spPr>
          <a:xfrm>
            <a:off x="13638742" y="5551355"/>
            <a:ext cx="3249538" cy="481012"/>
          </a:xfrm>
          <a:prstGeom prst="rect">
            <a:avLst/>
          </a:prstGeom>
          <a:noFill/>
          <a:ln/>
        </p:spPr>
        <p:txBody>
          <a:bodyPr wrap="square" lIns="25400" tIns="25400" rIns="25400" bIns="25400" rtlCol="0" anchor="t">
            <a:normAutofit/>
          </a:bodyPr>
          <a:lstStyle/>
          <a:p>
            <a:pPr marL="0" indent="0" algn="l">
              <a:lnSpc>
                <a:spcPct val="155000"/>
              </a:lnSpc>
              <a:buNone/>
            </a:pPr>
            <a:r>
              <a:rPr lang="en-US" sz="1125" dirty="0">
                <a:solidFill>
                  <a:srgbClr val="F1EAD9">
                    <a:alpha val="75000"/>
                  </a:srgbClr>
                </a:solidFill>
                <a:latin typeface="Arial" pitchFamily="34" charset="0"/>
                <a:ea typeface="Arial" pitchFamily="34" charset="-122"/>
                <a:cs typeface="Arial" pitchFamily="34" charset="-120"/>
              </a:rPr>
              <a:t>42% des utilisateurs ouvrent l'app à 30 jours, contre 18% sur la moyenne sectorielle.</a:t>
            </a:r>
            <a:endParaRPr lang="en-US" sz="1125" dirty="0"/>
          </a:p>
        </p:txBody>
      </p:sp>
      <p:sp>
        <p:nvSpPr>
          <p:cNvPr id="24" name="Text 18"/>
          <p:cNvSpPr/>
          <p:nvPr/>
        </p:nvSpPr>
        <p:spPr>
          <a:xfrm>
            <a:off x="13638742" y="8487834"/>
            <a:ext cx="3249538"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i="1" kern="0" spc="-96" dirty="0">
                <a:solidFill>
                  <a:srgbClr val="F5B82E"/>
                </a:solidFill>
                <a:latin typeface="Arial" pitchFamily="34" charset="0"/>
                <a:ea typeface="Arial" pitchFamily="34" charset="-122"/>
                <a:cs typeface="Arial" pitchFamily="34" charset="-120"/>
              </a:rPr>
              <a:t>42%</a:t>
            </a:r>
            <a:endParaRPr lang="en-US" sz="4800" dirty="0"/>
          </a:p>
        </p:txBody>
      </p:sp>
      <p:sp>
        <p:nvSpPr>
          <p:cNvPr id="25" name="Shape 19"/>
          <p:cNvSpPr/>
          <p:nvPr/>
        </p:nvSpPr>
        <p:spPr>
          <a:xfrm>
            <a:off x="1143000" y="9357783"/>
            <a:ext cx="16002000" cy="9525"/>
          </a:xfrm>
          <a:prstGeom prst="rect">
            <a:avLst/>
          </a:prstGeom>
          <a:solidFill>
            <a:srgbClr val="F5B82E">
              <a:alpha val="10000"/>
            </a:srgbClr>
          </a:solidFill>
          <a:ln/>
        </p:spPr>
      </p:sp>
      <p:sp>
        <p:nvSpPr>
          <p:cNvPr id="26" name="Text 20"/>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27" name="Text 21"/>
          <p:cNvSpPr/>
          <p:nvPr/>
        </p:nvSpPr>
        <p:spPr>
          <a:xfrm>
            <a:off x="15322021" y="9635067"/>
            <a:ext cx="1899179"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06 / 12 — ENGAGEMENT</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06 — BUSINESS MODEL</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Une commission </a:t>
            </a:r>
            <a:r>
              <a:rPr lang="en-US" sz="6600" i="1" kern="0" spc="-132" dirty="0">
                <a:solidFill>
                  <a:srgbClr val="F5B82E"/>
                </a:solidFill>
                <a:latin typeface="Arial" pitchFamily="34" charset="0"/>
                <a:ea typeface="Arial" pitchFamily="34" charset="-122"/>
                <a:cs typeface="Arial" pitchFamily="34" charset="-120"/>
              </a:rPr>
              <a:t>qui grandit avec la confiance.</a:t>
            </a:r>
            <a:endParaRPr lang="en-US" sz="6600" dirty="0"/>
          </a:p>
        </p:txBody>
      </p:sp>
      <p:sp>
        <p:nvSpPr>
          <p:cNvPr id="4" name="Text 2"/>
          <p:cNvSpPr/>
          <p:nvPr/>
        </p:nvSpPr>
        <p:spPr>
          <a:xfrm>
            <a:off x="1143000" y="3359084"/>
            <a:ext cx="10791825" cy="8953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F1EAD9"/>
                </a:solidFill>
                <a:latin typeface="Arial" pitchFamily="34" charset="0"/>
                <a:ea typeface="Arial" pitchFamily="34" charset="-122"/>
                <a:cs typeface="Arial" pitchFamily="34" charset="-120"/>
              </a:rPr>
              <a:t>On entre par le bas pour acquérir, on monte progressivement avec la valeur perçue. Le modèle suit Vinted (5%) → Vestiaire Collective (12%) en trois ans.</a:t>
            </a:r>
            <a:endParaRPr lang="en-US" sz="2250" dirty="0"/>
          </a:p>
        </p:txBody>
      </p:sp>
      <p:sp>
        <p:nvSpPr>
          <p:cNvPr id="5" name="Shape 3"/>
          <p:cNvSpPr/>
          <p:nvPr/>
        </p:nvSpPr>
        <p:spPr>
          <a:xfrm>
            <a:off x="1143000" y="4732470"/>
            <a:ext cx="5130800" cy="3710781"/>
          </a:xfrm>
          <a:prstGeom prst="roundRect">
            <a:avLst>
              <a:gd name="adj" fmla="val 6160"/>
            </a:avLst>
          </a:prstGeom>
          <a:solidFill>
            <a:srgbClr val="110D08"/>
          </a:solidFill>
          <a:ln w="8467">
            <a:solidFill>
              <a:srgbClr val="F5B82E">
                <a:alpha val="8000"/>
              </a:srgbClr>
            </a:solidFill>
            <a:prstDash val="solid"/>
          </a:ln>
        </p:spPr>
      </p:sp>
      <p:sp>
        <p:nvSpPr>
          <p:cNvPr id="6" name="Text 4"/>
          <p:cNvSpPr/>
          <p:nvPr/>
        </p:nvSpPr>
        <p:spPr>
          <a:xfrm>
            <a:off x="1545675" y="5274337"/>
            <a:ext cx="4325451" cy="173567"/>
          </a:xfrm>
          <a:prstGeom prst="rect">
            <a:avLst/>
          </a:prstGeom>
          <a:noFill/>
          <a:ln/>
        </p:spPr>
        <p:txBody>
          <a:bodyPr wrap="square" lIns="25400" tIns="25400" rIns="25400" bIns="25400" rtlCol="0" anchor="t">
            <a:normAutofit/>
          </a:bodyPr>
          <a:lstStyle/>
          <a:p>
            <a:pPr marL="0" indent="0" algn="ctr">
              <a:buNone/>
            </a:pPr>
            <a:r>
              <a:rPr lang="en-US" sz="975" kern="0" spc="195" dirty="0">
                <a:solidFill>
                  <a:srgbClr val="D9A024"/>
                </a:solidFill>
                <a:latin typeface="Arial" pitchFamily="34" charset="0"/>
                <a:ea typeface="Arial" pitchFamily="34" charset="-122"/>
                <a:cs typeface="Arial" pitchFamily="34" charset="-120"/>
              </a:rPr>
              <a:t>AN 1 — ACQUISITION</a:t>
            </a:r>
            <a:endParaRPr lang="en-US" sz="975" dirty="0"/>
          </a:p>
        </p:txBody>
      </p:sp>
      <p:sp>
        <p:nvSpPr>
          <p:cNvPr id="7" name="Text 5"/>
          <p:cNvSpPr/>
          <p:nvPr/>
        </p:nvSpPr>
        <p:spPr>
          <a:xfrm>
            <a:off x="1545675" y="5638403"/>
            <a:ext cx="4325451" cy="1562100"/>
          </a:xfrm>
          <a:prstGeom prst="rect">
            <a:avLst/>
          </a:prstGeom>
          <a:noFill/>
          <a:ln/>
        </p:spPr>
        <p:txBody>
          <a:bodyPr wrap="square" lIns="25400" tIns="25400" rIns="25400" bIns="25400" rtlCol="0" anchor="t">
            <a:normAutofit/>
          </a:bodyPr>
          <a:lstStyle/>
          <a:p>
            <a:pPr marL="0" indent="0" algn="ctr">
              <a:lnSpc>
                <a:spcPct val="100000"/>
              </a:lnSpc>
              <a:buNone/>
            </a:pPr>
            <a:r>
              <a:rPr lang="en-US" sz="12000" kern="0" spc="-360" dirty="0">
                <a:solidFill>
                  <a:srgbClr val="F5B82E"/>
                </a:solidFill>
                <a:latin typeface="Arial" pitchFamily="34" charset="0"/>
                <a:ea typeface="Arial" pitchFamily="34" charset="-122"/>
                <a:cs typeface="Arial" pitchFamily="34" charset="-120"/>
              </a:rPr>
              <a:t>5%</a:t>
            </a:r>
            <a:endParaRPr lang="en-US" sz="12000" dirty="0"/>
          </a:p>
        </p:txBody>
      </p:sp>
      <p:sp>
        <p:nvSpPr>
          <p:cNvPr id="8" name="Text 6"/>
          <p:cNvSpPr/>
          <p:nvPr/>
        </p:nvSpPr>
        <p:spPr>
          <a:xfrm>
            <a:off x="1545675" y="7314803"/>
            <a:ext cx="4325451" cy="624681"/>
          </a:xfrm>
          <a:prstGeom prst="rect">
            <a:avLst/>
          </a:prstGeom>
          <a:noFill/>
          <a:ln/>
        </p:spPr>
        <p:txBody>
          <a:bodyPr wrap="square" lIns="25400" tIns="25400" rIns="25400" bIns="25400" rtlCol="0" anchor="t">
            <a:normAutofit/>
          </a:bodyPr>
          <a:lstStyle/>
          <a:p>
            <a:pPr marL="0" indent="0" algn="ctr">
              <a:lnSpc>
                <a:spcPct val="140000"/>
              </a:lnSpc>
              <a:buNone/>
            </a:pPr>
            <a:r>
              <a:rPr lang="en-US" sz="1650" i="1" dirty="0">
                <a:solidFill>
                  <a:srgbClr val="F1EAD9"/>
                </a:solidFill>
                <a:latin typeface="Arial" pitchFamily="34" charset="0"/>
                <a:ea typeface="Arial" pitchFamily="34" charset="-122"/>
                <a:cs typeface="Arial" pitchFamily="34" charset="-120"/>
              </a:rPr>
              <a:t>On s'aligne sur Vinted pour briser l'inertie. On capte la base.</a:t>
            </a:r>
            <a:endParaRPr lang="en-US" sz="1650" dirty="0"/>
          </a:p>
        </p:txBody>
      </p:sp>
      <p:sp>
        <p:nvSpPr>
          <p:cNvPr id="9" name="Shape 7"/>
          <p:cNvSpPr/>
          <p:nvPr/>
        </p:nvSpPr>
        <p:spPr>
          <a:xfrm>
            <a:off x="6578600" y="4732470"/>
            <a:ext cx="5130800" cy="3710781"/>
          </a:xfrm>
          <a:prstGeom prst="roundRect">
            <a:avLst>
              <a:gd name="adj" fmla="val 6160"/>
            </a:avLst>
          </a:prstGeom>
          <a:solidFill>
            <a:srgbClr val="F5B82E">
              <a:alpha val="8000"/>
            </a:srgbClr>
          </a:solidFill>
          <a:ln w="8467">
            <a:solidFill>
              <a:srgbClr val="A87A1A"/>
            </a:solidFill>
            <a:prstDash val="solid"/>
          </a:ln>
        </p:spPr>
      </p:sp>
      <p:sp>
        <p:nvSpPr>
          <p:cNvPr id="10" name="Text 8"/>
          <p:cNvSpPr/>
          <p:nvPr/>
        </p:nvSpPr>
        <p:spPr>
          <a:xfrm>
            <a:off x="6981275" y="5274337"/>
            <a:ext cx="4325451" cy="173567"/>
          </a:xfrm>
          <a:prstGeom prst="rect">
            <a:avLst/>
          </a:prstGeom>
          <a:noFill/>
          <a:ln/>
        </p:spPr>
        <p:txBody>
          <a:bodyPr wrap="square" lIns="25400" tIns="25400" rIns="25400" bIns="25400" rtlCol="0" anchor="t">
            <a:normAutofit/>
          </a:bodyPr>
          <a:lstStyle/>
          <a:p>
            <a:pPr marL="0" indent="0" algn="ctr">
              <a:buNone/>
            </a:pPr>
            <a:r>
              <a:rPr lang="en-US" sz="975" kern="0" spc="195" dirty="0">
                <a:solidFill>
                  <a:srgbClr val="D9A024"/>
                </a:solidFill>
                <a:latin typeface="Arial" pitchFamily="34" charset="0"/>
                <a:ea typeface="Arial" pitchFamily="34" charset="-122"/>
                <a:cs typeface="Arial" pitchFamily="34" charset="-120"/>
              </a:rPr>
              <a:t>AN 2 — MATURITÉ</a:t>
            </a:r>
            <a:endParaRPr lang="en-US" sz="975" dirty="0"/>
          </a:p>
        </p:txBody>
      </p:sp>
      <p:sp>
        <p:nvSpPr>
          <p:cNvPr id="11" name="Text 9"/>
          <p:cNvSpPr/>
          <p:nvPr/>
        </p:nvSpPr>
        <p:spPr>
          <a:xfrm>
            <a:off x="6981275" y="5638403"/>
            <a:ext cx="4325451" cy="1562100"/>
          </a:xfrm>
          <a:prstGeom prst="rect">
            <a:avLst/>
          </a:prstGeom>
          <a:noFill/>
          <a:ln/>
        </p:spPr>
        <p:txBody>
          <a:bodyPr wrap="square" lIns="25400" tIns="25400" rIns="25400" bIns="25400" rtlCol="0" anchor="t">
            <a:normAutofit/>
          </a:bodyPr>
          <a:lstStyle/>
          <a:p>
            <a:pPr marL="0" indent="0" algn="ctr">
              <a:lnSpc>
                <a:spcPct val="100000"/>
              </a:lnSpc>
              <a:buNone/>
            </a:pPr>
            <a:r>
              <a:rPr lang="en-US" sz="12000" kern="0" spc="-360" dirty="0">
                <a:solidFill>
                  <a:srgbClr val="F5B82E"/>
                </a:solidFill>
                <a:latin typeface="Arial" pitchFamily="34" charset="0"/>
                <a:ea typeface="Arial" pitchFamily="34" charset="-122"/>
                <a:cs typeface="Arial" pitchFamily="34" charset="-120"/>
              </a:rPr>
              <a:t>8%</a:t>
            </a:r>
            <a:endParaRPr lang="en-US" sz="12000" dirty="0"/>
          </a:p>
        </p:txBody>
      </p:sp>
      <p:sp>
        <p:nvSpPr>
          <p:cNvPr id="12" name="Text 10"/>
          <p:cNvSpPr/>
          <p:nvPr/>
        </p:nvSpPr>
        <p:spPr>
          <a:xfrm>
            <a:off x="6981275" y="7314803"/>
            <a:ext cx="4325451" cy="624681"/>
          </a:xfrm>
          <a:prstGeom prst="rect">
            <a:avLst/>
          </a:prstGeom>
          <a:noFill/>
          <a:ln/>
        </p:spPr>
        <p:txBody>
          <a:bodyPr wrap="square" lIns="25400" tIns="25400" rIns="25400" bIns="25400" rtlCol="0" anchor="t">
            <a:normAutofit/>
          </a:bodyPr>
          <a:lstStyle/>
          <a:p>
            <a:pPr marL="0" indent="0" algn="ctr">
              <a:lnSpc>
                <a:spcPct val="140000"/>
              </a:lnSpc>
              <a:buNone/>
            </a:pPr>
            <a:r>
              <a:rPr lang="en-US" sz="1650" i="1" dirty="0">
                <a:solidFill>
                  <a:srgbClr val="F1EAD9"/>
                </a:solidFill>
                <a:latin typeface="Arial" pitchFamily="34" charset="0"/>
                <a:ea typeface="Arial" pitchFamily="34" charset="-122"/>
                <a:cs typeface="Arial" pitchFamily="34" charset="-120"/>
              </a:rPr>
              <a:t>Premium et services additionnels (envoi, authentification).</a:t>
            </a:r>
            <a:endParaRPr lang="en-US" sz="1650" dirty="0"/>
          </a:p>
        </p:txBody>
      </p:sp>
      <p:sp>
        <p:nvSpPr>
          <p:cNvPr id="13" name="Shape 11"/>
          <p:cNvSpPr/>
          <p:nvPr/>
        </p:nvSpPr>
        <p:spPr>
          <a:xfrm>
            <a:off x="12014200" y="4732470"/>
            <a:ext cx="5130800" cy="3710781"/>
          </a:xfrm>
          <a:prstGeom prst="roundRect">
            <a:avLst>
              <a:gd name="adj" fmla="val 6160"/>
            </a:avLst>
          </a:prstGeom>
          <a:solidFill>
            <a:srgbClr val="F5B82E">
              <a:alpha val="14000"/>
            </a:srgbClr>
          </a:solidFill>
          <a:ln w="8467">
            <a:solidFill>
              <a:srgbClr val="F5B82E"/>
            </a:solidFill>
            <a:prstDash val="solid"/>
          </a:ln>
        </p:spPr>
      </p:sp>
      <p:sp>
        <p:nvSpPr>
          <p:cNvPr id="14" name="Text 12"/>
          <p:cNvSpPr/>
          <p:nvPr/>
        </p:nvSpPr>
        <p:spPr>
          <a:xfrm>
            <a:off x="12416875" y="5274337"/>
            <a:ext cx="4325451" cy="173567"/>
          </a:xfrm>
          <a:prstGeom prst="rect">
            <a:avLst/>
          </a:prstGeom>
          <a:noFill/>
          <a:ln/>
        </p:spPr>
        <p:txBody>
          <a:bodyPr wrap="square" lIns="25400" tIns="25400" rIns="25400" bIns="25400" rtlCol="0" anchor="t">
            <a:normAutofit/>
          </a:bodyPr>
          <a:lstStyle/>
          <a:p>
            <a:pPr marL="0" indent="0" algn="ctr">
              <a:buNone/>
            </a:pPr>
            <a:r>
              <a:rPr lang="en-US" sz="975" kern="0" spc="195" dirty="0">
                <a:solidFill>
                  <a:srgbClr val="D9A024"/>
                </a:solidFill>
                <a:latin typeface="Arial" pitchFamily="34" charset="0"/>
                <a:ea typeface="Arial" pitchFamily="34" charset="-122"/>
                <a:cs typeface="Arial" pitchFamily="34" charset="-120"/>
              </a:rPr>
              <a:t>AN 3 — PLATEFORME</a:t>
            </a:r>
            <a:endParaRPr lang="en-US" sz="975" dirty="0"/>
          </a:p>
        </p:txBody>
      </p:sp>
      <p:sp>
        <p:nvSpPr>
          <p:cNvPr id="15" name="Text 13"/>
          <p:cNvSpPr/>
          <p:nvPr/>
        </p:nvSpPr>
        <p:spPr>
          <a:xfrm>
            <a:off x="12416875" y="5638403"/>
            <a:ext cx="4325451" cy="1562100"/>
          </a:xfrm>
          <a:prstGeom prst="rect">
            <a:avLst/>
          </a:prstGeom>
          <a:noFill/>
          <a:ln/>
        </p:spPr>
        <p:txBody>
          <a:bodyPr wrap="square" lIns="25400" tIns="25400" rIns="25400" bIns="25400" rtlCol="0" anchor="t">
            <a:normAutofit/>
          </a:bodyPr>
          <a:lstStyle/>
          <a:p>
            <a:pPr marL="0" indent="0" algn="ctr">
              <a:lnSpc>
                <a:spcPct val="100000"/>
              </a:lnSpc>
              <a:buNone/>
            </a:pPr>
            <a:r>
              <a:rPr lang="en-US" sz="12000" kern="0" spc="-360" dirty="0">
                <a:solidFill>
                  <a:srgbClr val="F5B82E"/>
                </a:solidFill>
                <a:latin typeface="Arial" pitchFamily="34" charset="0"/>
                <a:ea typeface="Arial" pitchFamily="34" charset="-122"/>
                <a:cs typeface="Arial" pitchFamily="34" charset="-120"/>
              </a:rPr>
              <a:t>12%</a:t>
            </a:r>
            <a:endParaRPr lang="en-US" sz="12000" dirty="0"/>
          </a:p>
        </p:txBody>
      </p:sp>
      <p:sp>
        <p:nvSpPr>
          <p:cNvPr id="16" name="Text 14"/>
          <p:cNvSpPr/>
          <p:nvPr/>
        </p:nvSpPr>
        <p:spPr>
          <a:xfrm>
            <a:off x="12416875" y="7314803"/>
            <a:ext cx="4325451" cy="624681"/>
          </a:xfrm>
          <a:prstGeom prst="rect">
            <a:avLst/>
          </a:prstGeom>
          <a:noFill/>
          <a:ln/>
        </p:spPr>
        <p:txBody>
          <a:bodyPr wrap="square" lIns="25400" tIns="25400" rIns="25400" bIns="25400" rtlCol="0" anchor="t">
            <a:normAutofit/>
          </a:bodyPr>
          <a:lstStyle/>
          <a:p>
            <a:pPr marL="0" indent="0" algn="ctr">
              <a:lnSpc>
                <a:spcPct val="140000"/>
              </a:lnSpc>
              <a:buNone/>
            </a:pPr>
            <a:r>
              <a:rPr lang="en-US" sz="1650" i="1" dirty="0">
                <a:solidFill>
                  <a:srgbClr val="F1EAD9"/>
                </a:solidFill>
                <a:latin typeface="Arial" pitchFamily="34" charset="0"/>
                <a:ea typeface="Arial" pitchFamily="34" charset="-122"/>
                <a:cs typeface="Arial" pitchFamily="34" charset="-120"/>
              </a:rPr>
              <a:t>Niveau Vestiaire Collective. La justesse de l'IA justifie la valeur.</a:t>
            </a:r>
            <a:endParaRPr lang="en-US" sz="1650" dirty="0"/>
          </a:p>
        </p:txBody>
      </p:sp>
      <p:sp>
        <p:nvSpPr>
          <p:cNvPr id="17" name="Shape 15"/>
          <p:cNvSpPr/>
          <p:nvPr/>
        </p:nvSpPr>
        <p:spPr>
          <a:xfrm>
            <a:off x="1143000" y="9357783"/>
            <a:ext cx="16002000" cy="9525"/>
          </a:xfrm>
          <a:prstGeom prst="rect">
            <a:avLst/>
          </a:prstGeom>
          <a:solidFill>
            <a:srgbClr val="F5B82E">
              <a:alpha val="10000"/>
            </a:srgbClr>
          </a:solidFill>
          <a:ln/>
        </p:spPr>
      </p:sp>
      <p:sp>
        <p:nvSpPr>
          <p:cNvPr id="18" name="Text 16"/>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19" name="Text 17"/>
          <p:cNvSpPr/>
          <p:nvPr/>
        </p:nvSpPr>
        <p:spPr>
          <a:xfrm>
            <a:off x="15027540" y="9635067"/>
            <a:ext cx="2193660"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07 / 12 — BUSINESS MODEL</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07 — CONCURRENCE</a:t>
            </a:r>
            <a:endParaRPr lang="en-US" sz="1050" dirty="0"/>
          </a:p>
        </p:txBody>
      </p:sp>
      <p:sp>
        <p:nvSpPr>
          <p:cNvPr id="3" name="Text 1"/>
          <p:cNvSpPr/>
          <p:nvPr/>
        </p:nvSpPr>
        <p:spPr>
          <a:xfrm>
            <a:off x="1143000" y="1219200"/>
            <a:ext cx="16482060" cy="759751"/>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108" dirty="0">
                <a:solidFill>
                  <a:srgbClr val="FAF6EC"/>
                </a:solidFill>
                <a:latin typeface="Arial" pitchFamily="34" charset="0"/>
                <a:ea typeface="Arial" pitchFamily="34" charset="-122"/>
                <a:cs typeface="Arial" pitchFamily="34" charset="-120"/>
              </a:rPr>
              <a:t>Personne ne fait </a:t>
            </a:r>
            <a:r>
              <a:rPr lang="en-US" sz="5400" i="1" kern="0" spc="-108" dirty="0">
                <a:solidFill>
                  <a:srgbClr val="F5B82E"/>
                </a:solidFill>
                <a:latin typeface="Arial" pitchFamily="34" charset="0"/>
                <a:ea typeface="Arial" pitchFamily="34" charset="-122"/>
                <a:cs typeface="Arial" pitchFamily="34" charset="-120"/>
              </a:rPr>
              <a:t>les quatre à la fois.</a:t>
            </a:r>
            <a:endParaRPr lang="en-US" sz="5400" dirty="0"/>
          </a:p>
        </p:txBody>
      </p:sp>
      <p:sp>
        <p:nvSpPr>
          <p:cNvPr id="4" name="Shape 2"/>
          <p:cNvSpPr/>
          <p:nvPr/>
        </p:nvSpPr>
        <p:spPr>
          <a:xfrm>
            <a:off x="1143000" y="4221559"/>
            <a:ext cx="16002000" cy="9525"/>
          </a:xfrm>
          <a:prstGeom prst="rect">
            <a:avLst/>
          </a:prstGeom>
          <a:solidFill>
            <a:srgbClr val="A87A1A"/>
          </a:solidFill>
          <a:ln/>
        </p:spPr>
      </p:sp>
      <p:sp>
        <p:nvSpPr>
          <p:cNvPr id="5" name="Text 3"/>
          <p:cNvSpPr/>
          <p:nvPr/>
        </p:nvSpPr>
        <p:spPr>
          <a:xfrm>
            <a:off x="5429912" y="3819393"/>
            <a:ext cx="2761454" cy="173567"/>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A99680"/>
                </a:solidFill>
                <a:latin typeface="Arial" pitchFamily="34" charset="0"/>
                <a:ea typeface="Arial" pitchFamily="34" charset="-122"/>
                <a:cs typeface="Arial" pitchFamily="34" charset="-120"/>
              </a:rPr>
              <a:t>SCAN IA</a:t>
            </a:r>
            <a:endParaRPr lang="en-US" sz="975" dirty="0"/>
          </a:p>
        </p:txBody>
      </p:sp>
      <p:sp>
        <p:nvSpPr>
          <p:cNvPr id="6" name="Text 4"/>
          <p:cNvSpPr/>
          <p:nvPr/>
        </p:nvSpPr>
        <p:spPr>
          <a:xfrm>
            <a:off x="8339535" y="3819393"/>
            <a:ext cx="2761590" cy="173567"/>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A99680"/>
                </a:solidFill>
                <a:latin typeface="Arial" pitchFamily="34" charset="0"/>
                <a:ea typeface="Arial" pitchFamily="34" charset="-122"/>
                <a:cs typeface="Arial" pitchFamily="34" charset="-120"/>
              </a:rPr>
              <a:t>MULTI-CATÉGORIES</a:t>
            </a:r>
            <a:endParaRPr lang="en-US" sz="975" dirty="0"/>
          </a:p>
        </p:txBody>
      </p:sp>
      <p:sp>
        <p:nvSpPr>
          <p:cNvPr id="7" name="Text 5"/>
          <p:cNvSpPr/>
          <p:nvPr/>
        </p:nvSpPr>
        <p:spPr>
          <a:xfrm>
            <a:off x="11249290" y="3819393"/>
            <a:ext cx="2761590" cy="173567"/>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A99680"/>
                </a:solidFill>
                <a:latin typeface="Arial" pitchFamily="34" charset="0"/>
                <a:ea typeface="Arial" pitchFamily="34" charset="-122"/>
                <a:cs typeface="Arial" pitchFamily="34" charset="-120"/>
              </a:rPr>
              <a:t>ESTIMATION AUTO</a:t>
            </a:r>
            <a:endParaRPr lang="en-US" sz="975" dirty="0"/>
          </a:p>
        </p:txBody>
      </p:sp>
      <p:sp>
        <p:nvSpPr>
          <p:cNvPr id="8" name="Text 6"/>
          <p:cNvSpPr/>
          <p:nvPr/>
        </p:nvSpPr>
        <p:spPr>
          <a:xfrm>
            <a:off x="14159045" y="3819393"/>
            <a:ext cx="2761454" cy="173567"/>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A99680"/>
                </a:solidFill>
                <a:latin typeface="Arial" pitchFamily="34" charset="0"/>
                <a:ea typeface="Arial" pitchFamily="34" charset="-122"/>
                <a:cs typeface="Arial" pitchFamily="34" charset="-120"/>
              </a:rPr>
              <a:t>C2C NATIF</a:t>
            </a:r>
            <a:endParaRPr lang="en-US" sz="975" dirty="0"/>
          </a:p>
        </p:txBody>
      </p:sp>
      <p:sp>
        <p:nvSpPr>
          <p:cNvPr id="9" name="Shape 7"/>
          <p:cNvSpPr/>
          <p:nvPr/>
        </p:nvSpPr>
        <p:spPr>
          <a:xfrm>
            <a:off x="1143000" y="5093626"/>
            <a:ext cx="16002000" cy="9525"/>
          </a:xfrm>
          <a:prstGeom prst="rect">
            <a:avLst/>
          </a:prstGeom>
          <a:solidFill>
            <a:srgbClr val="F5B82E">
              <a:alpha val="8000"/>
            </a:srgbClr>
          </a:solidFill>
          <a:ln/>
        </p:spPr>
      </p:sp>
      <p:sp>
        <p:nvSpPr>
          <p:cNvPr id="10" name="Text 8"/>
          <p:cNvSpPr/>
          <p:nvPr/>
        </p:nvSpPr>
        <p:spPr>
          <a:xfrm>
            <a:off x="1447800" y="4496726"/>
            <a:ext cx="3866117" cy="368300"/>
          </a:xfrm>
          <a:prstGeom prst="rect">
            <a:avLst/>
          </a:prstGeom>
          <a:noFill/>
          <a:ln/>
        </p:spPr>
        <p:txBody>
          <a:bodyPr wrap="square" lIns="25400" tIns="25400" rIns="25400" bIns="25400" rtlCol="0" anchor="t">
            <a:normAutofit/>
          </a:bodyPr>
          <a:lstStyle/>
          <a:p>
            <a:pPr marL="0" indent="0" algn="l">
              <a:buNone/>
            </a:pPr>
            <a:r>
              <a:rPr lang="en-US" sz="2100" dirty="0">
                <a:solidFill>
                  <a:srgbClr val="FAF6EC"/>
                </a:solidFill>
                <a:latin typeface="Arial" pitchFamily="34" charset="0"/>
                <a:ea typeface="Arial" pitchFamily="34" charset="-122"/>
                <a:cs typeface="Arial" pitchFamily="34" charset="-120"/>
              </a:rPr>
              <a:t>Leboncoin</a:t>
            </a:r>
            <a:endParaRPr lang="en-US" sz="2100" dirty="0"/>
          </a:p>
        </p:txBody>
      </p:sp>
      <p:sp>
        <p:nvSpPr>
          <p:cNvPr id="11" name="Shape 9"/>
          <p:cNvSpPr/>
          <p:nvPr/>
        </p:nvSpPr>
        <p:spPr>
          <a:xfrm>
            <a:off x="5429912" y="4583509"/>
            <a:ext cx="133350" cy="133350"/>
          </a:xfrm>
          <a:prstGeom prst="ellipse">
            <a:avLst/>
          </a:prstGeom>
          <a:solidFill>
            <a:srgbClr val="E08766">
              <a:alpha val="55000"/>
            </a:srgbClr>
          </a:solidFill>
          <a:ln/>
        </p:spPr>
      </p:sp>
      <p:sp>
        <p:nvSpPr>
          <p:cNvPr id="12" name="Shape 10"/>
          <p:cNvSpPr/>
          <p:nvPr/>
        </p:nvSpPr>
        <p:spPr>
          <a:xfrm>
            <a:off x="11249290" y="4583509"/>
            <a:ext cx="133350" cy="133350"/>
          </a:xfrm>
          <a:prstGeom prst="ellipse">
            <a:avLst/>
          </a:prstGeom>
          <a:solidFill>
            <a:srgbClr val="E08766">
              <a:alpha val="55000"/>
            </a:srgbClr>
          </a:solidFill>
          <a:ln/>
        </p:spPr>
      </p:sp>
      <p:sp>
        <p:nvSpPr>
          <p:cNvPr id="13" name="Shape 11"/>
          <p:cNvSpPr/>
          <p:nvPr/>
        </p:nvSpPr>
        <p:spPr>
          <a:xfrm>
            <a:off x="1143000" y="5965693"/>
            <a:ext cx="16002000" cy="9525"/>
          </a:xfrm>
          <a:prstGeom prst="rect">
            <a:avLst/>
          </a:prstGeom>
          <a:solidFill>
            <a:srgbClr val="F5B82E">
              <a:alpha val="8000"/>
            </a:srgbClr>
          </a:solidFill>
          <a:ln/>
        </p:spPr>
      </p:sp>
      <p:sp>
        <p:nvSpPr>
          <p:cNvPr id="14" name="Text 12"/>
          <p:cNvSpPr/>
          <p:nvPr/>
        </p:nvSpPr>
        <p:spPr>
          <a:xfrm>
            <a:off x="1447800" y="5368793"/>
            <a:ext cx="3866117" cy="368300"/>
          </a:xfrm>
          <a:prstGeom prst="rect">
            <a:avLst/>
          </a:prstGeom>
          <a:noFill/>
          <a:ln/>
        </p:spPr>
        <p:txBody>
          <a:bodyPr wrap="square" lIns="25400" tIns="25400" rIns="25400" bIns="25400" rtlCol="0" anchor="t">
            <a:normAutofit/>
          </a:bodyPr>
          <a:lstStyle/>
          <a:p>
            <a:pPr marL="0" indent="0" algn="l">
              <a:buNone/>
            </a:pPr>
            <a:r>
              <a:rPr lang="en-US" sz="2100" dirty="0">
                <a:solidFill>
                  <a:srgbClr val="FAF6EC"/>
                </a:solidFill>
                <a:latin typeface="Arial" pitchFamily="34" charset="0"/>
                <a:ea typeface="Arial" pitchFamily="34" charset="-122"/>
                <a:cs typeface="Arial" pitchFamily="34" charset="-120"/>
              </a:rPr>
              <a:t>Vinted</a:t>
            </a:r>
            <a:endParaRPr lang="en-US" sz="2100" dirty="0"/>
          </a:p>
        </p:txBody>
      </p:sp>
      <p:sp>
        <p:nvSpPr>
          <p:cNvPr id="15" name="Shape 13"/>
          <p:cNvSpPr/>
          <p:nvPr/>
        </p:nvSpPr>
        <p:spPr>
          <a:xfrm>
            <a:off x="5429912" y="5455576"/>
            <a:ext cx="133350" cy="133350"/>
          </a:xfrm>
          <a:prstGeom prst="ellipse">
            <a:avLst/>
          </a:prstGeom>
          <a:solidFill>
            <a:srgbClr val="E08766">
              <a:alpha val="55000"/>
            </a:srgbClr>
          </a:solidFill>
          <a:ln/>
        </p:spPr>
      </p:sp>
      <p:sp>
        <p:nvSpPr>
          <p:cNvPr id="16" name="Shape 14"/>
          <p:cNvSpPr/>
          <p:nvPr/>
        </p:nvSpPr>
        <p:spPr>
          <a:xfrm>
            <a:off x="8339535" y="5455576"/>
            <a:ext cx="133350" cy="133350"/>
          </a:xfrm>
          <a:prstGeom prst="ellipse">
            <a:avLst/>
          </a:prstGeom>
          <a:solidFill>
            <a:srgbClr val="E08766">
              <a:alpha val="55000"/>
            </a:srgbClr>
          </a:solidFill>
          <a:ln/>
        </p:spPr>
      </p:sp>
      <p:sp>
        <p:nvSpPr>
          <p:cNvPr id="17" name="Shape 15"/>
          <p:cNvSpPr/>
          <p:nvPr/>
        </p:nvSpPr>
        <p:spPr>
          <a:xfrm>
            <a:off x="1143000" y="6837759"/>
            <a:ext cx="16002000" cy="9525"/>
          </a:xfrm>
          <a:prstGeom prst="rect">
            <a:avLst/>
          </a:prstGeom>
          <a:solidFill>
            <a:srgbClr val="F5B82E">
              <a:alpha val="8000"/>
            </a:srgbClr>
          </a:solidFill>
          <a:ln/>
        </p:spPr>
      </p:sp>
      <p:sp>
        <p:nvSpPr>
          <p:cNvPr id="18" name="Text 16"/>
          <p:cNvSpPr/>
          <p:nvPr/>
        </p:nvSpPr>
        <p:spPr>
          <a:xfrm>
            <a:off x="1447800" y="6240859"/>
            <a:ext cx="3866117" cy="368300"/>
          </a:xfrm>
          <a:prstGeom prst="rect">
            <a:avLst/>
          </a:prstGeom>
          <a:noFill/>
          <a:ln/>
        </p:spPr>
        <p:txBody>
          <a:bodyPr wrap="square" lIns="25400" tIns="25400" rIns="25400" bIns="25400" rtlCol="0" anchor="t">
            <a:normAutofit/>
          </a:bodyPr>
          <a:lstStyle/>
          <a:p>
            <a:pPr marL="0" indent="0" algn="l">
              <a:buNone/>
            </a:pPr>
            <a:r>
              <a:rPr lang="en-US" sz="2100" dirty="0">
                <a:solidFill>
                  <a:srgbClr val="FAF6EC"/>
                </a:solidFill>
                <a:latin typeface="Arial" pitchFamily="34" charset="0"/>
                <a:ea typeface="Arial" pitchFamily="34" charset="-122"/>
                <a:cs typeface="Arial" pitchFamily="34" charset="-120"/>
              </a:rPr>
              <a:t>Back Market</a:t>
            </a:r>
            <a:endParaRPr lang="en-US" sz="2100" dirty="0"/>
          </a:p>
        </p:txBody>
      </p:sp>
      <p:sp>
        <p:nvSpPr>
          <p:cNvPr id="19" name="Shape 17"/>
          <p:cNvSpPr/>
          <p:nvPr/>
        </p:nvSpPr>
        <p:spPr>
          <a:xfrm>
            <a:off x="5429912" y="6327643"/>
            <a:ext cx="133350" cy="133350"/>
          </a:xfrm>
          <a:prstGeom prst="ellipse">
            <a:avLst/>
          </a:prstGeom>
          <a:solidFill>
            <a:srgbClr val="E08766">
              <a:alpha val="55000"/>
            </a:srgbClr>
          </a:solidFill>
          <a:ln/>
        </p:spPr>
      </p:sp>
      <p:sp>
        <p:nvSpPr>
          <p:cNvPr id="20" name="Shape 18"/>
          <p:cNvSpPr/>
          <p:nvPr/>
        </p:nvSpPr>
        <p:spPr>
          <a:xfrm>
            <a:off x="8339535" y="6327643"/>
            <a:ext cx="133350" cy="133350"/>
          </a:xfrm>
          <a:prstGeom prst="ellipse">
            <a:avLst/>
          </a:prstGeom>
          <a:solidFill>
            <a:srgbClr val="E08766">
              <a:alpha val="55000"/>
            </a:srgbClr>
          </a:solidFill>
          <a:ln/>
        </p:spPr>
      </p:sp>
      <p:sp>
        <p:nvSpPr>
          <p:cNvPr id="21" name="Shape 19"/>
          <p:cNvSpPr/>
          <p:nvPr/>
        </p:nvSpPr>
        <p:spPr>
          <a:xfrm>
            <a:off x="14159045" y="6327643"/>
            <a:ext cx="133350" cy="133350"/>
          </a:xfrm>
          <a:prstGeom prst="ellipse">
            <a:avLst/>
          </a:prstGeom>
          <a:solidFill>
            <a:srgbClr val="E08766">
              <a:alpha val="55000"/>
            </a:srgbClr>
          </a:solidFill>
          <a:ln/>
        </p:spPr>
      </p:sp>
      <p:sp>
        <p:nvSpPr>
          <p:cNvPr id="22" name="Shape 20"/>
          <p:cNvSpPr/>
          <p:nvPr/>
        </p:nvSpPr>
        <p:spPr>
          <a:xfrm>
            <a:off x="1143000" y="7709826"/>
            <a:ext cx="16002000" cy="9525"/>
          </a:xfrm>
          <a:prstGeom prst="rect">
            <a:avLst/>
          </a:prstGeom>
          <a:solidFill>
            <a:srgbClr val="F5B82E">
              <a:alpha val="8000"/>
            </a:srgbClr>
          </a:solidFill>
          <a:ln/>
        </p:spPr>
      </p:sp>
      <p:sp>
        <p:nvSpPr>
          <p:cNvPr id="23" name="Text 21"/>
          <p:cNvSpPr/>
          <p:nvPr/>
        </p:nvSpPr>
        <p:spPr>
          <a:xfrm>
            <a:off x="1447800" y="7112926"/>
            <a:ext cx="3866117" cy="368300"/>
          </a:xfrm>
          <a:prstGeom prst="rect">
            <a:avLst/>
          </a:prstGeom>
          <a:noFill/>
          <a:ln/>
        </p:spPr>
        <p:txBody>
          <a:bodyPr wrap="square" lIns="25400" tIns="25400" rIns="25400" bIns="25400" rtlCol="0" anchor="t">
            <a:normAutofit/>
          </a:bodyPr>
          <a:lstStyle/>
          <a:p>
            <a:pPr marL="0" indent="0" algn="l">
              <a:buNone/>
            </a:pPr>
            <a:r>
              <a:rPr lang="en-US" sz="2100" dirty="0">
                <a:solidFill>
                  <a:srgbClr val="FAF6EC"/>
                </a:solidFill>
                <a:latin typeface="Arial" pitchFamily="34" charset="0"/>
                <a:ea typeface="Arial" pitchFamily="34" charset="-122"/>
                <a:cs typeface="Arial" pitchFamily="34" charset="-120"/>
              </a:rPr>
              <a:t>Vestiaire Collective</a:t>
            </a:r>
            <a:endParaRPr lang="en-US" sz="2100" dirty="0"/>
          </a:p>
        </p:txBody>
      </p:sp>
      <p:sp>
        <p:nvSpPr>
          <p:cNvPr id="24" name="Shape 22"/>
          <p:cNvSpPr/>
          <p:nvPr/>
        </p:nvSpPr>
        <p:spPr>
          <a:xfrm>
            <a:off x="5429912" y="7199709"/>
            <a:ext cx="133350" cy="133350"/>
          </a:xfrm>
          <a:prstGeom prst="ellipse">
            <a:avLst/>
          </a:prstGeom>
          <a:solidFill>
            <a:srgbClr val="E08766">
              <a:alpha val="55000"/>
            </a:srgbClr>
          </a:solidFill>
          <a:ln/>
        </p:spPr>
      </p:sp>
      <p:sp>
        <p:nvSpPr>
          <p:cNvPr id="25" name="Shape 23"/>
          <p:cNvSpPr/>
          <p:nvPr/>
        </p:nvSpPr>
        <p:spPr>
          <a:xfrm>
            <a:off x="8339535" y="7199709"/>
            <a:ext cx="133350" cy="133350"/>
          </a:xfrm>
          <a:prstGeom prst="ellipse">
            <a:avLst/>
          </a:prstGeom>
          <a:solidFill>
            <a:srgbClr val="E08766">
              <a:alpha val="55000"/>
            </a:srgbClr>
          </a:solidFill>
          <a:ln/>
        </p:spPr>
      </p:sp>
      <p:sp>
        <p:nvSpPr>
          <p:cNvPr id="26" name="Shape 24"/>
          <p:cNvSpPr/>
          <p:nvPr/>
        </p:nvSpPr>
        <p:spPr>
          <a:xfrm>
            <a:off x="1143000" y="7718293"/>
            <a:ext cx="16002000" cy="880533"/>
          </a:xfrm>
          <a:prstGeom prst="roundRect">
            <a:avLst>
              <a:gd name="adj" fmla="val 17308"/>
            </a:avLst>
          </a:prstGeom>
          <a:solidFill>
            <a:srgbClr val="F5B82E">
              <a:alpha val="6000"/>
            </a:srgbClr>
          </a:solidFill>
          <a:ln w="8467">
            <a:solidFill>
              <a:srgbClr val="A87A1A"/>
            </a:solidFill>
            <a:prstDash val="solid"/>
          </a:ln>
        </p:spPr>
      </p:sp>
      <p:sp>
        <p:nvSpPr>
          <p:cNvPr id="27" name="Text 25"/>
          <p:cNvSpPr/>
          <p:nvPr/>
        </p:nvSpPr>
        <p:spPr>
          <a:xfrm>
            <a:off x="1456267" y="7993459"/>
            <a:ext cx="3861620" cy="368300"/>
          </a:xfrm>
          <a:prstGeom prst="rect">
            <a:avLst/>
          </a:prstGeom>
          <a:noFill/>
          <a:ln/>
        </p:spPr>
        <p:txBody>
          <a:bodyPr wrap="square" lIns="25400" tIns="25400" rIns="25400" bIns="25400" rtlCol="0" anchor="t">
            <a:normAutofit/>
          </a:bodyPr>
          <a:lstStyle/>
          <a:p>
            <a:pPr marL="0" indent="0" algn="l">
              <a:buNone/>
            </a:pPr>
            <a:r>
              <a:rPr lang="en-US" sz="2100" i="1" dirty="0">
                <a:solidFill>
                  <a:srgbClr val="F5B82E"/>
                </a:solidFill>
                <a:latin typeface="Arial" pitchFamily="34" charset="0"/>
                <a:ea typeface="Arial" pitchFamily="34" charset="-122"/>
                <a:cs typeface="Arial" pitchFamily="34" charset="-120"/>
              </a:rPr>
              <a:t>Pépite</a:t>
            </a:r>
            <a:endParaRPr lang="en-US" sz="2100" dirty="0"/>
          </a:p>
        </p:txBody>
      </p:sp>
      <p:sp>
        <p:nvSpPr>
          <p:cNvPr id="28" name="Shape 26"/>
          <p:cNvSpPr/>
          <p:nvPr/>
        </p:nvSpPr>
        <p:spPr>
          <a:xfrm>
            <a:off x="1143000" y="9357783"/>
            <a:ext cx="16002000" cy="9525"/>
          </a:xfrm>
          <a:prstGeom prst="rect">
            <a:avLst/>
          </a:prstGeom>
          <a:solidFill>
            <a:srgbClr val="F5B82E">
              <a:alpha val="10000"/>
            </a:srgbClr>
          </a:solidFill>
          <a:ln/>
        </p:spPr>
      </p:sp>
      <p:sp>
        <p:nvSpPr>
          <p:cNvPr id="29" name="Text 27"/>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30" name="Text 28"/>
          <p:cNvSpPr/>
          <p:nvPr/>
        </p:nvSpPr>
        <p:spPr>
          <a:xfrm>
            <a:off x="15207192" y="9635067"/>
            <a:ext cx="2014008"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08 / 12 — CONCURRENCE</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08 — GO-TO-MARKET</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Deux marchés, </a:t>
            </a:r>
            <a:r>
              <a:rPr lang="en-US" sz="6600" i="1" kern="0" spc="-132" dirty="0">
                <a:solidFill>
                  <a:srgbClr val="F5B82E"/>
                </a:solidFill>
                <a:latin typeface="Arial" pitchFamily="34" charset="0"/>
                <a:ea typeface="Arial" pitchFamily="34" charset="-122"/>
                <a:cs typeface="Arial" pitchFamily="34" charset="-120"/>
              </a:rPr>
              <a:t>une même mécanique.</a:t>
            </a:r>
            <a:endParaRPr lang="en-US" sz="6600" dirty="0"/>
          </a:p>
        </p:txBody>
      </p:sp>
      <p:sp>
        <p:nvSpPr>
          <p:cNvPr id="4" name="Shape 2"/>
          <p:cNvSpPr/>
          <p:nvPr/>
        </p:nvSpPr>
        <p:spPr>
          <a:xfrm>
            <a:off x="1143000" y="2869803"/>
            <a:ext cx="7772400" cy="6578997"/>
          </a:xfrm>
          <a:prstGeom prst="roundRect">
            <a:avLst>
              <a:gd name="adj" fmla="val 3475"/>
            </a:avLst>
          </a:prstGeom>
          <a:solidFill>
            <a:srgbClr val="110D08"/>
          </a:solidFill>
          <a:ln w="8467">
            <a:solidFill>
              <a:srgbClr val="F5B82E">
                <a:alpha val="8000"/>
              </a:srgbClr>
            </a:solidFill>
            <a:prstDash val="solid"/>
          </a:ln>
        </p:spPr>
      </p:sp>
      <p:sp>
        <p:nvSpPr>
          <p:cNvPr id="5" name="Text 3"/>
          <p:cNvSpPr/>
          <p:nvPr/>
        </p:nvSpPr>
        <p:spPr>
          <a:xfrm>
            <a:off x="1684867" y="3411670"/>
            <a:ext cx="6889327"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kern="0" spc="-144" dirty="0">
                <a:solidFill>
                  <a:srgbClr val="F5B82E"/>
                </a:solidFill>
                <a:latin typeface="Arial" pitchFamily="34" charset="0"/>
                <a:ea typeface="Arial" pitchFamily="34" charset="-122"/>
                <a:cs typeface="Arial" pitchFamily="34" charset="-120"/>
              </a:rPr>
              <a:t>France </a:t>
            </a:r>
            <a:r>
              <a:rPr lang="en-US" sz="7200" i="1" kern="0" spc="-144" dirty="0">
                <a:solidFill>
                  <a:srgbClr val="F5B82E"/>
                </a:solidFill>
                <a:latin typeface="Arial" pitchFamily="34" charset="0"/>
                <a:ea typeface="Arial" pitchFamily="34" charset="-122"/>
                <a:cs typeface="Arial" pitchFamily="34" charset="-120"/>
              </a:rPr>
              <a:t>— jour 1</a:t>
            </a:r>
            <a:endParaRPr lang="en-US" sz="7200" dirty="0"/>
          </a:p>
        </p:txBody>
      </p:sp>
      <p:sp>
        <p:nvSpPr>
          <p:cNvPr id="6" name="Text 4"/>
          <p:cNvSpPr/>
          <p:nvPr/>
        </p:nvSpPr>
        <p:spPr>
          <a:xfrm>
            <a:off x="1684867" y="5255551"/>
            <a:ext cx="6889327" cy="60960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F1EAD9"/>
                </a:solidFill>
                <a:latin typeface="Arial" pitchFamily="34" charset="0"/>
                <a:ea typeface="Arial" pitchFamily="34" charset="-122"/>
                <a:cs typeface="Arial" pitchFamily="34" charset="-120"/>
              </a:rPr>
              <a:t>Coût d'acquisition bas, écosystème seconde main mature, trajectoire prouvée par Vinted.</a:t>
            </a:r>
            <a:endParaRPr lang="en-US" sz="1500" dirty="0"/>
          </a:p>
        </p:txBody>
      </p:sp>
      <p:sp>
        <p:nvSpPr>
          <p:cNvPr id="7" name="Text 5"/>
          <p:cNvSpPr/>
          <p:nvPr/>
        </p:nvSpPr>
        <p:spPr>
          <a:xfrm>
            <a:off x="1684867" y="7160683"/>
            <a:ext cx="891910"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CIBLE AN 1</a:t>
            </a:r>
            <a:endParaRPr lang="en-US" sz="900" dirty="0"/>
          </a:p>
        </p:txBody>
      </p:sp>
      <p:sp>
        <p:nvSpPr>
          <p:cNvPr id="8" name="Text 6"/>
          <p:cNvSpPr/>
          <p:nvPr/>
        </p:nvSpPr>
        <p:spPr>
          <a:xfrm>
            <a:off x="7151291" y="7042150"/>
            <a:ext cx="1298443"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300K </a:t>
            </a:r>
            <a:r>
              <a:rPr lang="en-US" sz="1800" i="1" dirty="0">
                <a:solidFill>
                  <a:srgbClr val="F5B82E"/>
                </a:solidFill>
                <a:latin typeface="Arial" pitchFamily="34" charset="0"/>
                <a:ea typeface="Arial" pitchFamily="34" charset="-122"/>
                <a:cs typeface="Arial" pitchFamily="34" charset="-120"/>
              </a:rPr>
              <a:t>actifs</a:t>
            </a:r>
            <a:endParaRPr lang="en-US" sz="1800" dirty="0"/>
          </a:p>
        </p:txBody>
      </p:sp>
      <p:sp>
        <p:nvSpPr>
          <p:cNvPr id="9" name="Shape 7"/>
          <p:cNvSpPr/>
          <p:nvPr/>
        </p:nvSpPr>
        <p:spPr>
          <a:xfrm>
            <a:off x="1684867" y="7626350"/>
            <a:ext cx="6688667" cy="9525"/>
          </a:xfrm>
          <a:prstGeom prst="rect">
            <a:avLst/>
          </a:prstGeom>
          <a:solidFill>
            <a:srgbClr val="F5B82E">
              <a:alpha val="8000"/>
            </a:srgbClr>
          </a:solidFill>
          <a:ln/>
        </p:spPr>
      </p:sp>
      <p:sp>
        <p:nvSpPr>
          <p:cNvPr id="10" name="Text 8"/>
          <p:cNvSpPr/>
          <p:nvPr/>
        </p:nvSpPr>
        <p:spPr>
          <a:xfrm>
            <a:off x="1684867" y="7886700"/>
            <a:ext cx="774435"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CAC VISÉ</a:t>
            </a:r>
            <a:endParaRPr lang="en-US" sz="900" dirty="0"/>
          </a:p>
        </p:txBody>
      </p:sp>
      <p:sp>
        <p:nvSpPr>
          <p:cNvPr id="11" name="Text 9"/>
          <p:cNvSpPr/>
          <p:nvPr/>
        </p:nvSpPr>
        <p:spPr>
          <a:xfrm>
            <a:off x="7742105" y="7768167"/>
            <a:ext cx="707628"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3,80€</a:t>
            </a:r>
            <a:endParaRPr lang="en-US" sz="1800" dirty="0"/>
          </a:p>
        </p:txBody>
      </p:sp>
      <p:sp>
        <p:nvSpPr>
          <p:cNvPr id="12" name="Shape 10"/>
          <p:cNvSpPr/>
          <p:nvPr/>
        </p:nvSpPr>
        <p:spPr>
          <a:xfrm>
            <a:off x="1684867" y="8352367"/>
            <a:ext cx="6688667" cy="9525"/>
          </a:xfrm>
          <a:prstGeom prst="rect">
            <a:avLst/>
          </a:prstGeom>
          <a:solidFill>
            <a:srgbClr val="F5B82E">
              <a:alpha val="8000"/>
            </a:srgbClr>
          </a:solidFill>
          <a:ln/>
        </p:spPr>
      </p:sp>
      <p:sp>
        <p:nvSpPr>
          <p:cNvPr id="13" name="Text 11"/>
          <p:cNvSpPr/>
          <p:nvPr/>
        </p:nvSpPr>
        <p:spPr>
          <a:xfrm>
            <a:off x="1684867" y="8612717"/>
            <a:ext cx="1388401"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CANAL PRINCIPAL</a:t>
            </a:r>
            <a:endParaRPr lang="en-US" sz="900" dirty="0"/>
          </a:p>
        </p:txBody>
      </p:sp>
      <p:sp>
        <p:nvSpPr>
          <p:cNvPr id="14" name="Text 12"/>
          <p:cNvSpPr/>
          <p:nvPr/>
        </p:nvSpPr>
        <p:spPr>
          <a:xfrm>
            <a:off x="7114778" y="8494183"/>
            <a:ext cx="1334955"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TikTok + IG</a:t>
            </a:r>
            <a:endParaRPr lang="en-US" sz="1800" dirty="0"/>
          </a:p>
        </p:txBody>
      </p:sp>
      <p:sp>
        <p:nvSpPr>
          <p:cNvPr id="15" name="Shape 13"/>
          <p:cNvSpPr/>
          <p:nvPr/>
        </p:nvSpPr>
        <p:spPr>
          <a:xfrm>
            <a:off x="9372600" y="2869803"/>
            <a:ext cx="7772400" cy="6578997"/>
          </a:xfrm>
          <a:prstGeom prst="roundRect">
            <a:avLst>
              <a:gd name="adj" fmla="val 3475"/>
            </a:avLst>
          </a:prstGeom>
          <a:solidFill>
            <a:srgbClr val="110D08"/>
          </a:solidFill>
          <a:ln w="8467">
            <a:solidFill>
              <a:srgbClr val="F5B82E">
                <a:alpha val="8000"/>
              </a:srgbClr>
            </a:solidFill>
            <a:prstDash val="solid"/>
          </a:ln>
        </p:spPr>
      </p:sp>
      <p:sp>
        <p:nvSpPr>
          <p:cNvPr id="16" name="Text 14"/>
          <p:cNvSpPr/>
          <p:nvPr/>
        </p:nvSpPr>
        <p:spPr>
          <a:xfrm>
            <a:off x="9914467" y="3411670"/>
            <a:ext cx="6889327" cy="952500"/>
          </a:xfrm>
          <a:prstGeom prst="rect">
            <a:avLst/>
          </a:prstGeom>
          <a:noFill/>
          <a:ln/>
        </p:spPr>
        <p:txBody>
          <a:bodyPr wrap="square" lIns="25400" tIns="25400" rIns="25400" bIns="25400" rtlCol="0" anchor="t">
            <a:normAutofit/>
          </a:bodyPr>
          <a:lstStyle/>
          <a:p>
            <a:pPr marL="0" indent="0" algn="l">
              <a:lnSpc>
                <a:spcPct val="100000"/>
              </a:lnSpc>
              <a:buNone/>
            </a:pPr>
            <a:r>
              <a:rPr lang="en-US" sz="7200" kern="0" spc="-144" dirty="0">
                <a:solidFill>
                  <a:srgbClr val="F5B82E"/>
                </a:solidFill>
                <a:latin typeface="Arial" pitchFamily="34" charset="0"/>
                <a:ea typeface="Arial" pitchFamily="34" charset="-122"/>
                <a:cs typeface="Arial" pitchFamily="34" charset="-120"/>
              </a:rPr>
              <a:t>USA </a:t>
            </a:r>
            <a:r>
              <a:rPr lang="en-US" sz="7200" i="1" kern="0" spc="-144" dirty="0">
                <a:solidFill>
                  <a:srgbClr val="F5B82E"/>
                </a:solidFill>
                <a:latin typeface="Arial" pitchFamily="34" charset="0"/>
                <a:ea typeface="Arial" pitchFamily="34" charset="-122"/>
                <a:cs typeface="Arial" pitchFamily="34" charset="-120"/>
              </a:rPr>
              <a:t>— jour 1</a:t>
            </a:r>
            <a:endParaRPr lang="en-US" sz="7200" dirty="0"/>
          </a:p>
        </p:txBody>
      </p:sp>
      <p:sp>
        <p:nvSpPr>
          <p:cNvPr id="17" name="Text 15"/>
          <p:cNvSpPr/>
          <p:nvPr/>
        </p:nvSpPr>
        <p:spPr>
          <a:xfrm>
            <a:off x="9914467" y="5255551"/>
            <a:ext cx="6889327" cy="60960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F1EAD9"/>
                </a:solidFill>
                <a:latin typeface="Arial" pitchFamily="34" charset="0"/>
                <a:ea typeface="Arial" pitchFamily="34" charset="-122"/>
                <a:cs typeface="Arial" pitchFamily="34" charset="-120"/>
              </a:rPr>
              <a:t>Panier moyen plus élevé, valorisation premium de la seconde main, marché 6× plus grand.</a:t>
            </a:r>
            <a:endParaRPr lang="en-US" sz="1500" dirty="0"/>
          </a:p>
        </p:txBody>
      </p:sp>
      <p:sp>
        <p:nvSpPr>
          <p:cNvPr id="18" name="Text 16"/>
          <p:cNvSpPr/>
          <p:nvPr/>
        </p:nvSpPr>
        <p:spPr>
          <a:xfrm>
            <a:off x="9914467" y="7160683"/>
            <a:ext cx="891910"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CIBLE AN 1</a:t>
            </a:r>
            <a:endParaRPr lang="en-US" sz="900" dirty="0"/>
          </a:p>
        </p:txBody>
      </p:sp>
      <p:sp>
        <p:nvSpPr>
          <p:cNvPr id="19" name="Text 17"/>
          <p:cNvSpPr/>
          <p:nvPr/>
        </p:nvSpPr>
        <p:spPr>
          <a:xfrm>
            <a:off x="15368720" y="7042150"/>
            <a:ext cx="1310614"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200K </a:t>
            </a:r>
            <a:r>
              <a:rPr lang="en-US" sz="1800" i="1" dirty="0">
                <a:solidFill>
                  <a:srgbClr val="F5B82E"/>
                </a:solidFill>
                <a:latin typeface="Arial" pitchFamily="34" charset="0"/>
                <a:ea typeface="Arial" pitchFamily="34" charset="-122"/>
                <a:cs typeface="Arial" pitchFamily="34" charset="-120"/>
              </a:rPr>
              <a:t>actifs</a:t>
            </a:r>
            <a:endParaRPr lang="en-US" sz="1800" dirty="0"/>
          </a:p>
        </p:txBody>
      </p:sp>
      <p:sp>
        <p:nvSpPr>
          <p:cNvPr id="20" name="Shape 18"/>
          <p:cNvSpPr/>
          <p:nvPr/>
        </p:nvSpPr>
        <p:spPr>
          <a:xfrm>
            <a:off x="9914467" y="7626350"/>
            <a:ext cx="6688667" cy="9525"/>
          </a:xfrm>
          <a:prstGeom prst="rect">
            <a:avLst/>
          </a:prstGeom>
          <a:solidFill>
            <a:srgbClr val="F5B82E">
              <a:alpha val="8000"/>
            </a:srgbClr>
          </a:solidFill>
          <a:ln/>
        </p:spPr>
      </p:sp>
      <p:sp>
        <p:nvSpPr>
          <p:cNvPr id="21" name="Text 19"/>
          <p:cNvSpPr/>
          <p:nvPr/>
        </p:nvSpPr>
        <p:spPr>
          <a:xfrm>
            <a:off x="9914467" y="7886700"/>
            <a:ext cx="774435"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CAC VISÉ</a:t>
            </a:r>
            <a:endParaRPr lang="en-US" sz="900" dirty="0"/>
          </a:p>
        </p:txBody>
      </p:sp>
      <p:sp>
        <p:nvSpPr>
          <p:cNvPr id="22" name="Text 20"/>
          <p:cNvSpPr/>
          <p:nvPr/>
        </p:nvSpPr>
        <p:spPr>
          <a:xfrm>
            <a:off x="16001604" y="7768167"/>
            <a:ext cx="677730"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$7,20</a:t>
            </a:r>
            <a:endParaRPr lang="en-US" sz="1800" dirty="0"/>
          </a:p>
        </p:txBody>
      </p:sp>
      <p:sp>
        <p:nvSpPr>
          <p:cNvPr id="23" name="Shape 21"/>
          <p:cNvSpPr/>
          <p:nvPr/>
        </p:nvSpPr>
        <p:spPr>
          <a:xfrm>
            <a:off x="9914467" y="8352367"/>
            <a:ext cx="6688667" cy="9525"/>
          </a:xfrm>
          <a:prstGeom prst="rect">
            <a:avLst/>
          </a:prstGeom>
          <a:solidFill>
            <a:srgbClr val="F5B82E">
              <a:alpha val="8000"/>
            </a:srgbClr>
          </a:solidFill>
          <a:ln/>
        </p:spPr>
      </p:sp>
      <p:sp>
        <p:nvSpPr>
          <p:cNvPr id="24" name="Text 22"/>
          <p:cNvSpPr/>
          <p:nvPr/>
        </p:nvSpPr>
        <p:spPr>
          <a:xfrm>
            <a:off x="9914467" y="8612717"/>
            <a:ext cx="1388401" cy="165100"/>
          </a:xfrm>
          <a:prstGeom prst="rect">
            <a:avLst/>
          </a:prstGeom>
          <a:noFill/>
          <a:ln/>
        </p:spPr>
        <p:txBody>
          <a:bodyPr wrap="square" lIns="25400" tIns="25400" rIns="25400" bIns="25400" rtlCol="0" anchor="t">
            <a:normAutofit/>
          </a:bodyPr>
          <a:lstStyle/>
          <a:p>
            <a:pPr marL="0" indent="0" algn="l">
              <a:buNone/>
            </a:pPr>
            <a:r>
              <a:rPr lang="en-US" sz="900" kern="0" spc="162" dirty="0">
                <a:solidFill>
                  <a:srgbClr val="A99680"/>
                </a:solidFill>
                <a:latin typeface="Arial" pitchFamily="34" charset="0"/>
                <a:ea typeface="Arial" pitchFamily="34" charset="-122"/>
                <a:cs typeface="Arial" pitchFamily="34" charset="-120"/>
              </a:rPr>
              <a:t>CANAL PRINCIPAL</a:t>
            </a:r>
            <a:endParaRPr lang="en-US" sz="900" dirty="0"/>
          </a:p>
        </p:txBody>
      </p:sp>
      <p:sp>
        <p:nvSpPr>
          <p:cNvPr id="25" name="Text 23"/>
          <p:cNvSpPr/>
          <p:nvPr/>
        </p:nvSpPr>
        <p:spPr>
          <a:xfrm>
            <a:off x="15024233" y="8494183"/>
            <a:ext cx="1655101"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TikTok + Reels</a:t>
            </a:r>
            <a:endParaRPr lang="en-US" sz="1800" dirty="0"/>
          </a:p>
        </p:txBody>
      </p:sp>
      <p:sp>
        <p:nvSpPr>
          <p:cNvPr id="26" name="Shape 24"/>
          <p:cNvSpPr/>
          <p:nvPr/>
        </p:nvSpPr>
        <p:spPr>
          <a:xfrm>
            <a:off x="1143000" y="9357783"/>
            <a:ext cx="16002000" cy="9525"/>
          </a:xfrm>
          <a:prstGeom prst="rect">
            <a:avLst/>
          </a:prstGeom>
          <a:solidFill>
            <a:srgbClr val="F5B82E">
              <a:alpha val="10000"/>
            </a:srgbClr>
          </a:solidFill>
          <a:ln/>
        </p:spPr>
      </p:sp>
      <p:sp>
        <p:nvSpPr>
          <p:cNvPr id="27" name="Text 25"/>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28" name="Text 26"/>
          <p:cNvSpPr/>
          <p:nvPr/>
        </p:nvSpPr>
        <p:spPr>
          <a:xfrm>
            <a:off x="15457488" y="9635067"/>
            <a:ext cx="1763713"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09 / 12 — LANCEMENT</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09 — ACQUISITION</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Le scan est </a:t>
            </a:r>
            <a:r>
              <a:rPr lang="en-US" sz="6600" i="1" kern="0" spc="-132" dirty="0">
                <a:solidFill>
                  <a:srgbClr val="F5B82E"/>
                </a:solidFill>
                <a:latin typeface="Arial" pitchFamily="34" charset="0"/>
                <a:ea typeface="Arial" pitchFamily="34" charset="-122"/>
                <a:cs typeface="Arial" pitchFamily="34" charset="-120"/>
              </a:rPr>
              <a:t>nativement viral.</a:t>
            </a:r>
            <a:endParaRPr lang="en-US" sz="6600" dirty="0"/>
          </a:p>
        </p:txBody>
      </p:sp>
      <p:sp>
        <p:nvSpPr>
          <p:cNvPr id="4" name="Text 2"/>
          <p:cNvSpPr/>
          <p:nvPr/>
        </p:nvSpPr>
        <p:spPr>
          <a:xfrm>
            <a:off x="1143000" y="2412603"/>
            <a:ext cx="10791825"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F1EAD9"/>
                </a:solidFill>
                <a:latin typeface="Arial" pitchFamily="34" charset="0"/>
                <a:ea typeface="Arial" pitchFamily="34" charset="-122"/>
                <a:cs typeface="Arial" pitchFamily="34" charset="-120"/>
              </a:rPr>
              <a:t>Le format « scanne ce que t'as chez toi » se prête parfaitement aux shorts TikTok et Reels. Chaque utilisateur peut produire du contenu en quelques secondes — la marque s'auto-alimente.</a:t>
            </a:r>
            <a:endParaRPr lang="en-US" sz="2250" dirty="0"/>
          </a:p>
        </p:txBody>
      </p:sp>
      <p:sp>
        <p:nvSpPr>
          <p:cNvPr id="5" name="Shape 3"/>
          <p:cNvSpPr/>
          <p:nvPr/>
        </p:nvSpPr>
        <p:spPr>
          <a:xfrm>
            <a:off x="1143000" y="4155678"/>
            <a:ext cx="5130800" cy="5293122"/>
          </a:xfrm>
          <a:prstGeom prst="roundRect">
            <a:avLst>
              <a:gd name="adj" fmla="val 4455"/>
            </a:avLst>
          </a:prstGeom>
          <a:solidFill>
            <a:srgbClr val="110D08"/>
          </a:solidFill>
          <a:ln w="8467">
            <a:solidFill>
              <a:srgbClr val="F5B82E">
                <a:alpha val="8000"/>
              </a:srgbClr>
            </a:solidFill>
            <a:prstDash val="solid"/>
          </a:ln>
        </p:spPr>
      </p:sp>
      <p:sp>
        <p:nvSpPr>
          <p:cNvPr id="6" name="Text 4"/>
          <p:cNvSpPr/>
          <p:nvPr/>
        </p:nvSpPr>
        <p:spPr>
          <a:xfrm>
            <a:off x="1608667" y="4621345"/>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80% — paid social</a:t>
            </a:r>
            <a:endParaRPr lang="en-US" sz="975" dirty="0"/>
          </a:p>
        </p:txBody>
      </p:sp>
      <p:sp>
        <p:nvSpPr>
          <p:cNvPr id="7" name="Text 5"/>
          <p:cNvSpPr/>
          <p:nvPr/>
        </p:nvSpPr>
        <p:spPr>
          <a:xfrm>
            <a:off x="1608667" y="4756811"/>
            <a:ext cx="4325451" cy="878152"/>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TikTok &amp; Instagram Reels</a:t>
            </a:r>
            <a:endParaRPr lang="en-US" sz="3150" dirty="0"/>
          </a:p>
        </p:txBody>
      </p:sp>
      <p:sp>
        <p:nvSpPr>
          <p:cNvPr id="8" name="Text 6"/>
          <p:cNvSpPr/>
          <p:nvPr/>
        </p:nvSpPr>
        <p:spPr>
          <a:xfrm>
            <a:off x="1608667" y="5749264"/>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Format vertical 9:16, hook « Devine combien ça vaut ». Test continu de 200 créatives par mois.</a:t>
            </a:r>
            <a:endParaRPr lang="en-US" sz="1350" dirty="0"/>
          </a:p>
        </p:txBody>
      </p:sp>
      <p:sp>
        <p:nvSpPr>
          <p:cNvPr id="9" name="Shape 7"/>
          <p:cNvSpPr/>
          <p:nvPr/>
        </p:nvSpPr>
        <p:spPr>
          <a:xfrm>
            <a:off x="6578600" y="4155678"/>
            <a:ext cx="5130800" cy="5293122"/>
          </a:xfrm>
          <a:prstGeom prst="roundRect">
            <a:avLst>
              <a:gd name="adj" fmla="val 4455"/>
            </a:avLst>
          </a:prstGeom>
          <a:solidFill>
            <a:srgbClr val="110D08"/>
          </a:solidFill>
          <a:ln w="8467">
            <a:solidFill>
              <a:srgbClr val="F5B82E">
                <a:alpha val="8000"/>
              </a:srgbClr>
            </a:solidFill>
            <a:prstDash val="solid"/>
          </a:ln>
        </p:spPr>
      </p:sp>
      <p:sp>
        <p:nvSpPr>
          <p:cNvPr id="10" name="Text 8"/>
          <p:cNvSpPr/>
          <p:nvPr/>
        </p:nvSpPr>
        <p:spPr>
          <a:xfrm>
            <a:off x="7044267" y="4621345"/>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15% — créateurs</a:t>
            </a:r>
            <a:endParaRPr lang="en-US" sz="975" dirty="0"/>
          </a:p>
        </p:txBody>
      </p:sp>
      <p:sp>
        <p:nvSpPr>
          <p:cNvPr id="11" name="Text 9"/>
          <p:cNvSpPr/>
          <p:nvPr/>
        </p:nvSpPr>
        <p:spPr>
          <a:xfrm>
            <a:off x="7044267" y="4756811"/>
            <a:ext cx="4325451" cy="878152"/>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Partenariats nano &amp; micro</a:t>
            </a:r>
            <a:endParaRPr lang="en-US" sz="3150" dirty="0"/>
          </a:p>
        </p:txBody>
      </p:sp>
      <p:sp>
        <p:nvSpPr>
          <p:cNvPr id="12" name="Text 10"/>
          <p:cNvSpPr/>
          <p:nvPr/>
        </p:nvSpPr>
        <p:spPr>
          <a:xfrm>
            <a:off x="7044267" y="5749264"/>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300 créateurs vintage / lifestyle / déco. Code promo personnel + commission sur les ventes générées.</a:t>
            </a:r>
            <a:endParaRPr lang="en-US" sz="1350" dirty="0"/>
          </a:p>
        </p:txBody>
      </p:sp>
      <p:sp>
        <p:nvSpPr>
          <p:cNvPr id="13" name="Shape 11"/>
          <p:cNvSpPr/>
          <p:nvPr/>
        </p:nvSpPr>
        <p:spPr>
          <a:xfrm>
            <a:off x="12014200" y="4155678"/>
            <a:ext cx="5130800" cy="5293122"/>
          </a:xfrm>
          <a:prstGeom prst="roundRect">
            <a:avLst>
              <a:gd name="adj" fmla="val 4455"/>
            </a:avLst>
          </a:prstGeom>
          <a:solidFill>
            <a:srgbClr val="110D08"/>
          </a:solidFill>
          <a:ln w="8467">
            <a:solidFill>
              <a:srgbClr val="F5B82E">
                <a:alpha val="8000"/>
              </a:srgbClr>
            </a:solidFill>
            <a:prstDash val="solid"/>
          </a:ln>
        </p:spPr>
      </p:sp>
      <p:sp>
        <p:nvSpPr>
          <p:cNvPr id="14" name="Text 12"/>
          <p:cNvSpPr/>
          <p:nvPr/>
        </p:nvSpPr>
        <p:spPr>
          <a:xfrm>
            <a:off x="12479867" y="4621345"/>
            <a:ext cx="4325451"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A87A1A"/>
                </a:solidFill>
                <a:latin typeface="Arial" pitchFamily="34" charset="0"/>
                <a:ea typeface="Arial" pitchFamily="34" charset="-122"/>
                <a:cs typeface="Arial" pitchFamily="34" charset="-120"/>
              </a:rPr>
              <a:t>5% — RP</a:t>
            </a:r>
            <a:endParaRPr lang="en-US" sz="975" dirty="0"/>
          </a:p>
        </p:txBody>
      </p:sp>
      <p:sp>
        <p:nvSpPr>
          <p:cNvPr id="15" name="Text 13"/>
          <p:cNvSpPr/>
          <p:nvPr/>
        </p:nvSpPr>
        <p:spPr>
          <a:xfrm>
            <a:off x="12479867" y="4756811"/>
            <a:ext cx="4325451" cy="458126"/>
          </a:xfrm>
          <a:prstGeom prst="rect">
            <a:avLst/>
          </a:prstGeom>
          <a:noFill/>
          <a:ln/>
        </p:spPr>
        <p:txBody>
          <a:bodyPr wrap="square" lIns="25400" tIns="25400" rIns="25400" bIns="25400" rtlCol="0" anchor="t">
            <a:normAutofit/>
          </a:bodyPr>
          <a:lstStyle/>
          <a:p>
            <a:pPr marL="0" indent="0" algn="l">
              <a:lnSpc>
                <a:spcPct val="105000"/>
              </a:lnSpc>
              <a:buNone/>
            </a:pPr>
            <a:r>
              <a:rPr lang="en-US" sz="3150" dirty="0">
                <a:solidFill>
                  <a:srgbClr val="FAF6EC"/>
                </a:solidFill>
                <a:latin typeface="Arial" pitchFamily="34" charset="0"/>
                <a:ea typeface="Arial" pitchFamily="34" charset="-122"/>
                <a:cs typeface="Arial" pitchFamily="34" charset="-120"/>
              </a:rPr>
              <a:t>Presse &amp; PR stunts</a:t>
            </a:r>
            <a:endParaRPr lang="en-US" sz="3150" dirty="0"/>
          </a:p>
        </p:txBody>
      </p:sp>
      <p:sp>
        <p:nvSpPr>
          <p:cNvPr id="16" name="Text 14"/>
          <p:cNvSpPr/>
          <p:nvPr/>
        </p:nvSpPr>
        <p:spPr>
          <a:xfrm>
            <a:off x="12479867" y="5329238"/>
            <a:ext cx="4325451" cy="569383"/>
          </a:xfrm>
          <a:prstGeom prst="rect">
            <a:avLst/>
          </a:prstGeom>
          <a:noFill/>
          <a:ln/>
        </p:spPr>
        <p:txBody>
          <a:bodyPr wrap="square" lIns="25400" tIns="25400" rIns="25400" bIns="25400" rtlCol="0" anchor="t">
            <a:normAutofit/>
          </a:bodyPr>
          <a:lstStyle/>
          <a:p>
            <a:pPr marL="0" indent="0" algn="l">
              <a:lnSpc>
                <a:spcPct val="155000"/>
              </a:lnSpc>
              <a:buNone/>
            </a:pPr>
            <a:r>
              <a:rPr lang="en-US" sz="1350" dirty="0">
                <a:solidFill>
                  <a:srgbClr val="F1EAD9">
                    <a:alpha val="80000"/>
                  </a:srgbClr>
                </a:solidFill>
                <a:latin typeface="Arial" pitchFamily="34" charset="0"/>
                <a:ea typeface="Arial" pitchFamily="34" charset="-122"/>
                <a:cs typeface="Arial" pitchFamily="34" charset="-120"/>
              </a:rPr>
              <a:t>Opérations « scanne ton grenier » avec médias partenaires. Couverture organique, valeur de marque.</a:t>
            </a:r>
            <a:endParaRPr lang="en-US" sz="1350" dirty="0"/>
          </a:p>
        </p:txBody>
      </p:sp>
      <p:sp>
        <p:nvSpPr>
          <p:cNvPr id="17" name="Shape 15"/>
          <p:cNvSpPr/>
          <p:nvPr/>
        </p:nvSpPr>
        <p:spPr>
          <a:xfrm>
            <a:off x="1143000" y="9357783"/>
            <a:ext cx="16002000" cy="9525"/>
          </a:xfrm>
          <a:prstGeom prst="rect">
            <a:avLst/>
          </a:prstGeom>
          <a:solidFill>
            <a:srgbClr val="F5B82E">
              <a:alpha val="10000"/>
            </a:srgbClr>
          </a:solidFill>
          <a:ln/>
        </p:spPr>
      </p:sp>
      <p:sp>
        <p:nvSpPr>
          <p:cNvPr id="18" name="Text 16"/>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19" name="Text 17"/>
          <p:cNvSpPr/>
          <p:nvPr/>
        </p:nvSpPr>
        <p:spPr>
          <a:xfrm>
            <a:off x="15385918" y="9635067"/>
            <a:ext cx="1835282"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10 / 12 — ACQUISITION</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10 — PROJECTIONS</a:t>
            </a:r>
            <a:endParaRPr lang="en-US" sz="1050" dirty="0"/>
          </a:p>
        </p:txBody>
      </p:sp>
      <p:sp>
        <p:nvSpPr>
          <p:cNvPr id="3" name="Text 1"/>
          <p:cNvSpPr/>
          <p:nvPr/>
        </p:nvSpPr>
        <p:spPr>
          <a:xfrm>
            <a:off x="1143000" y="1219200"/>
            <a:ext cx="16482060" cy="759751"/>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108" dirty="0">
                <a:solidFill>
                  <a:srgbClr val="FAF6EC"/>
                </a:solidFill>
                <a:latin typeface="Arial" pitchFamily="34" charset="0"/>
                <a:ea typeface="Arial" pitchFamily="34" charset="-122"/>
                <a:cs typeface="Arial" pitchFamily="34" charset="-120"/>
              </a:rPr>
              <a:t>Break-even </a:t>
            </a:r>
            <a:r>
              <a:rPr lang="en-US" sz="5400" i="1" kern="0" spc="-108" dirty="0">
                <a:solidFill>
                  <a:srgbClr val="F5B82E"/>
                </a:solidFill>
                <a:latin typeface="Arial" pitchFamily="34" charset="0"/>
                <a:ea typeface="Arial" pitchFamily="34" charset="-122"/>
                <a:cs typeface="Arial" pitchFamily="34" charset="-120"/>
              </a:rPr>
              <a:t>au mois 22.</a:t>
            </a:r>
            <a:endParaRPr lang="en-US" sz="5400" dirty="0"/>
          </a:p>
        </p:txBody>
      </p:sp>
      <p:sp>
        <p:nvSpPr>
          <p:cNvPr id="4" name="Shape 2"/>
          <p:cNvSpPr/>
          <p:nvPr/>
        </p:nvSpPr>
        <p:spPr>
          <a:xfrm>
            <a:off x="1143000" y="2702851"/>
            <a:ext cx="5181600" cy="3695700"/>
          </a:xfrm>
          <a:prstGeom prst="roundRect">
            <a:avLst>
              <a:gd name="adj" fmla="val 6186"/>
            </a:avLst>
          </a:prstGeom>
          <a:solidFill>
            <a:srgbClr val="110D08"/>
          </a:solidFill>
          <a:ln w="8467">
            <a:solidFill>
              <a:srgbClr val="F5B82E">
                <a:alpha val="8000"/>
              </a:srgbClr>
            </a:solidFill>
            <a:prstDash val="solid"/>
          </a:ln>
        </p:spPr>
      </p:sp>
      <p:sp>
        <p:nvSpPr>
          <p:cNvPr id="5" name="Text 3"/>
          <p:cNvSpPr/>
          <p:nvPr/>
        </p:nvSpPr>
        <p:spPr>
          <a:xfrm>
            <a:off x="1608667" y="3168518"/>
            <a:ext cx="4377775"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D9A024"/>
                </a:solidFill>
                <a:latin typeface="Arial" pitchFamily="34" charset="0"/>
                <a:ea typeface="Arial" pitchFamily="34" charset="-122"/>
                <a:cs typeface="Arial" pitchFamily="34" charset="-120"/>
              </a:rPr>
              <a:t>AN 1 — 2026/27</a:t>
            </a:r>
            <a:endParaRPr lang="en-US" sz="975" dirty="0"/>
          </a:p>
        </p:txBody>
      </p:sp>
      <p:sp>
        <p:nvSpPr>
          <p:cNvPr id="6" name="Text 4"/>
          <p:cNvSpPr/>
          <p:nvPr/>
        </p:nvSpPr>
        <p:spPr>
          <a:xfrm>
            <a:off x="1608667" y="35325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UTILISATEURS ACTIFS</a:t>
            </a:r>
            <a:endParaRPr lang="en-US" sz="1050" dirty="0"/>
          </a:p>
        </p:txBody>
      </p:sp>
      <p:sp>
        <p:nvSpPr>
          <p:cNvPr id="7" name="Text 5"/>
          <p:cNvSpPr/>
          <p:nvPr/>
        </p:nvSpPr>
        <p:spPr>
          <a:xfrm>
            <a:off x="1608667" y="37230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500</a:t>
            </a:r>
            <a:r>
              <a:rPr lang="en-US" sz="3600" kern="0" spc="-72" dirty="0">
                <a:solidFill>
                  <a:srgbClr val="F5B82E"/>
                </a:solidFill>
                <a:latin typeface="Arial" pitchFamily="34" charset="0"/>
                <a:ea typeface="Arial" pitchFamily="34" charset="-122"/>
                <a:cs typeface="Arial" pitchFamily="34" charset="-120"/>
              </a:rPr>
              <a:t>K</a:t>
            </a:r>
            <a:endParaRPr lang="en-US" sz="3600" dirty="0"/>
          </a:p>
        </p:txBody>
      </p:sp>
      <p:sp>
        <p:nvSpPr>
          <p:cNvPr id="8" name="Text 6"/>
          <p:cNvSpPr/>
          <p:nvPr/>
        </p:nvSpPr>
        <p:spPr>
          <a:xfrm>
            <a:off x="1608667" y="44088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GMV</a:t>
            </a:r>
            <a:endParaRPr lang="en-US" sz="1050" dirty="0"/>
          </a:p>
        </p:txBody>
      </p:sp>
      <p:sp>
        <p:nvSpPr>
          <p:cNvPr id="9" name="Text 7"/>
          <p:cNvSpPr/>
          <p:nvPr/>
        </p:nvSpPr>
        <p:spPr>
          <a:xfrm>
            <a:off x="1608667" y="45993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12</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10" name="Text 8"/>
          <p:cNvSpPr/>
          <p:nvPr/>
        </p:nvSpPr>
        <p:spPr>
          <a:xfrm>
            <a:off x="1608667" y="52851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REVENUS (5%)</a:t>
            </a:r>
            <a:endParaRPr lang="en-US" sz="1050" dirty="0"/>
          </a:p>
        </p:txBody>
      </p:sp>
      <p:sp>
        <p:nvSpPr>
          <p:cNvPr id="11" name="Text 9"/>
          <p:cNvSpPr/>
          <p:nvPr/>
        </p:nvSpPr>
        <p:spPr>
          <a:xfrm>
            <a:off x="1608667" y="54756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600</a:t>
            </a:r>
            <a:r>
              <a:rPr lang="en-US" sz="3600" kern="0" spc="-72" dirty="0">
                <a:solidFill>
                  <a:srgbClr val="F5B82E"/>
                </a:solidFill>
                <a:latin typeface="Arial" pitchFamily="34" charset="0"/>
                <a:ea typeface="Arial" pitchFamily="34" charset="-122"/>
                <a:cs typeface="Arial" pitchFamily="34" charset="-120"/>
              </a:rPr>
              <a:t>K€</a:t>
            </a:r>
            <a:endParaRPr lang="en-US" sz="3600" dirty="0"/>
          </a:p>
        </p:txBody>
      </p:sp>
      <p:sp>
        <p:nvSpPr>
          <p:cNvPr id="12" name="Shape 10"/>
          <p:cNvSpPr/>
          <p:nvPr/>
        </p:nvSpPr>
        <p:spPr>
          <a:xfrm>
            <a:off x="6553200" y="2702851"/>
            <a:ext cx="5181600" cy="3695700"/>
          </a:xfrm>
          <a:prstGeom prst="roundRect">
            <a:avLst>
              <a:gd name="adj" fmla="val 6186"/>
            </a:avLst>
          </a:prstGeom>
          <a:solidFill>
            <a:srgbClr val="110D08"/>
          </a:solidFill>
          <a:ln w="8467">
            <a:solidFill>
              <a:srgbClr val="F5B82E">
                <a:alpha val="8000"/>
              </a:srgbClr>
            </a:solidFill>
            <a:prstDash val="solid"/>
          </a:ln>
        </p:spPr>
      </p:sp>
      <p:sp>
        <p:nvSpPr>
          <p:cNvPr id="13" name="Text 11"/>
          <p:cNvSpPr/>
          <p:nvPr/>
        </p:nvSpPr>
        <p:spPr>
          <a:xfrm>
            <a:off x="7018867" y="3168518"/>
            <a:ext cx="4377775"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D9A024"/>
                </a:solidFill>
                <a:latin typeface="Arial" pitchFamily="34" charset="0"/>
                <a:ea typeface="Arial" pitchFamily="34" charset="-122"/>
                <a:cs typeface="Arial" pitchFamily="34" charset="-120"/>
              </a:rPr>
              <a:t>AN 2 — 2027/28</a:t>
            </a:r>
            <a:endParaRPr lang="en-US" sz="975" dirty="0"/>
          </a:p>
        </p:txBody>
      </p:sp>
      <p:sp>
        <p:nvSpPr>
          <p:cNvPr id="14" name="Text 12"/>
          <p:cNvSpPr/>
          <p:nvPr/>
        </p:nvSpPr>
        <p:spPr>
          <a:xfrm>
            <a:off x="7018867" y="35325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UTILISATEURS ACTIFS</a:t>
            </a:r>
            <a:endParaRPr lang="en-US" sz="1050" dirty="0"/>
          </a:p>
        </p:txBody>
      </p:sp>
      <p:sp>
        <p:nvSpPr>
          <p:cNvPr id="15" name="Text 13"/>
          <p:cNvSpPr/>
          <p:nvPr/>
        </p:nvSpPr>
        <p:spPr>
          <a:xfrm>
            <a:off x="7018867" y="37230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1,8</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16" name="Text 14"/>
          <p:cNvSpPr/>
          <p:nvPr/>
        </p:nvSpPr>
        <p:spPr>
          <a:xfrm>
            <a:off x="7018867" y="44088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GMV</a:t>
            </a:r>
            <a:endParaRPr lang="en-US" sz="1050" dirty="0"/>
          </a:p>
        </p:txBody>
      </p:sp>
      <p:sp>
        <p:nvSpPr>
          <p:cNvPr id="17" name="Text 15"/>
          <p:cNvSpPr/>
          <p:nvPr/>
        </p:nvSpPr>
        <p:spPr>
          <a:xfrm>
            <a:off x="7018867" y="45993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68</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18" name="Text 16"/>
          <p:cNvSpPr/>
          <p:nvPr/>
        </p:nvSpPr>
        <p:spPr>
          <a:xfrm>
            <a:off x="7018867" y="52851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REVENUS (8%)</a:t>
            </a:r>
            <a:endParaRPr lang="en-US" sz="1050" dirty="0"/>
          </a:p>
        </p:txBody>
      </p:sp>
      <p:sp>
        <p:nvSpPr>
          <p:cNvPr id="19" name="Text 17"/>
          <p:cNvSpPr/>
          <p:nvPr/>
        </p:nvSpPr>
        <p:spPr>
          <a:xfrm>
            <a:off x="7018867" y="54756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5,4</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20" name="Shape 18"/>
          <p:cNvSpPr/>
          <p:nvPr/>
        </p:nvSpPr>
        <p:spPr>
          <a:xfrm>
            <a:off x="11963400" y="2702851"/>
            <a:ext cx="5181600" cy="3695700"/>
          </a:xfrm>
          <a:prstGeom prst="roundRect">
            <a:avLst>
              <a:gd name="adj" fmla="val 6186"/>
            </a:avLst>
          </a:prstGeom>
          <a:solidFill>
            <a:srgbClr val="F5B82E">
              <a:alpha val="6000"/>
            </a:srgbClr>
          </a:solidFill>
          <a:ln w="8467">
            <a:solidFill>
              <a:srgbClr val="A87A1A"/>
            </a:solidFill>
            <a:prstDash val="solid"/>
          </a:ln>
        </p:spPr>
      </p:sp>
      <p:sp>
        <p:nvSpPr>
          <p:cNvPr id="21" name="Text 19"/>
          <p:cNvSpPr/>
          <p:nvPr/>
        </p:nvSpPr>
        <p:spPr>
          <a:xfrm>
            <a:off x="12429067" y="3168518"/>
            <a:ext cx="4377775" cy="173567"/>
          </a:xfrm>
          <a:prstGeom prst="rect">
            <a:avLst/>
          </a:prstGeom>
          <a:noFill/>
          <a:ln/>
        </p:spPr>
        <p:txBody>
          <a:bodyPr wrap="square" lIns="25400" tIns="25400" rIns="25400" bIns="25400" rtlCol="0" anchor="t">
            <a:normAutofit/>
          </a:bodyPr>
          <a:lstStyle/>
          <a:p>
            <a:pPr marL="0" indent="0" algn="l">
              <a:buNone/>
            </a:pPr>
            <a:r>
              <a:rPr lang="en-US" sz="975" kern="0" spc="195" dirty="0">
                <a:solidFill>
                  <a:srgbClr val="F5B82E"/>
                </a:solidFill>
                <a:latin typeface="Arial" pitchFamily="34" charset="0"/>
                <a:ea typeface="Arial" pitchFamily="34" charset="-122"/>
                <a:cs typeface="Arial" pitchFamily="34" charset="-120"/>
              </a:rPr>
              <a:t>AN 3 — 2028/29</a:t>
            </a:r>
            <a:endParaRPr lang="en-US" sz="975" dirty="0"/>
          </a:p>
        </p:txBody>
      </p:sp>
      <p:sp>
        <p:nvSpPr>
          <p:cNvPr id="22" name="Text 20"/>
          <p:cNvSpPr/>
          <p:nvPr/>
        </p:nvSpPr>
        <p:spPr>
          <a:xfrm>
            <a:off x="12429067" y="35325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UTILISATEURS ACTIFS</a:t>
            </a:r>
            <a:endParaRPr lang="en-US" sz="1050" dirty="0"/>
          </a:p>
        </p:txBody>
      </p:sp>
      <p:sp>
        <p:nvSpPr>
          <p:cNvPr id="23" name="Text 21"/>
          <p:cNvSpPr/>
          <p:nvPr/>
        </p:nvSpPr>
        <p:spPr>
          <a:xfrm>
            <a:off x="12429067" y="37230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4</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24" name="Text 22"/>
          <p:cNvSpPr/>
          <p:nvPr/>
        </p:nvSpPr>
        <p:spPr>
          <a:xfrm>
            <a:off x="12429067" y="44088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GMV</a:t>
            </a:r>
            <a:endParaRPr lang="en-US" sz="1050" dirty="0"/>
          </a:p>
        </p:txBody>
      </p:sp>
      <p:sp>
        <p:nvSpPr>
          <p:cNvPr id="25" name="Text 23"/>
          <p:cNvSpPr/>
          <p:nvPr/>
        </p:nvSpPr>
        <p:spPr>
          <a:xfrm>
            <a:off x="12429067" y="45993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180</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26" name="Text 24"/>
          <p:cNvSpPr/>
          <p:nvPr/>
        </p:nvSpPr>
        <p:spPr>
          <a:xfrm>
            <a:off x="12429067" y="5285184"/>
            <a:ext cx="4377775" cy="190500"/>
          </a:xfrm>
          <a:prstGeom prst="rect">
            <a:avLst/>
          </a:prstGeom>
          <a:noFill/>
          <a:ln/>
        </p:spPr>
        <p:txBody>
          <a:bodyPr wrap="square" lIns="25400" tIns="25400" rIns="25400" bIns="25400" rtlCol="0" anchor="t">
            <a:normAutofit/>
          </a:bodyPr>
          <a:lstStyle/>
          <a:p>
            <a:pPr marL="0" indent="0" algn="l">
              <a:buNone/>
            </a:pPr>
            <a:r>
              <a:rPr lang="en-US" sz="1050" kern="0" spc="126" dirty="0">
                <a:solidFill>
                  <a:srgbClr val="A99680"/>
                </a:solidFill>
                <a:latin typeface="Arial" pitchFamily="34" charset="0"/>
                <a:ea typeface="Arial" pitchFamily="34" charset="-122"/>
                <a:cs typeface="Arial" pitchFamily="34" charset="-120"/>
              </a:rPr>
              <a:t>REVENUS (12%)</a:t>
            </a:r>
            <a:endParaRPr lang="en-US" sz="1050" dirty="0"/>
          </a:p>
        </p:txBody>
      </p:sp>
      <p:sp>
        <p:nvSpPr>
          <p:cNvPr id="27" name="Text 25"/>
          <p:cNvSpPr/>
          <p:nvPr/>
        </p:nvSpPr>
        <p:spPr>
          <a:xfrm>
            <a:off x="12429067" y="5475684"/>
            <a:ext cx="4377775" cy="49530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FAF6EC"/>
                </a:solidFill>
                <a:latin typeface="Arial" pitchFamily="34" charset="0"/>
                <a:ea typeface="Arial" pitchFamily="34" charset="-122"/>
                <a:cs typeface="Arial" pitchFamily="34" charset="-120"/>
              </a:rPr>
              <a:t>21</a:t>
            </a:r>
            <a:r>
              <a:rPr lang="en-US" sz="3600" kern="0" spc="-72" dirty="0">
                <a:solidFill>
                  <a:srgbClr val="F5B82E"/>
                </a:solidFill>
                <a:latin typeface="Arial" pitchFamily="34" charset="0"/>
                <a:ea typeface="Arial" pitchFamily="34" charset="-122"/>
                <a:cs typeface="Arial" pitchFamily="34" charset="-120"/>
              </a:rPr>
              <a:t>M€</a:t>
            </a:r>
            <a:endParaRPr lang="en-US" sz="3600" dirty="0"/>
          </a:p>
        </p:txBody>
      </p:sp>
      <p:sp>
        <p:nvSpPr>
          <p:cNvPr id="28" name="Text 26"/>
          <p:cNvSpPr/>
          <p:nvPr/>
        </p:nvSpPr>
        <p:spPr>
          <a:xfrm>
            <a:off x="1143000" y="6703351"/>
            <a:ext cx="10791825" cy="32385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F1EAD9"/>
                </a:solidFill>
                <a:latin typeface="Arial" pitchFamily="34" charset="0"/>
                <a:ea typeface="Arial" pitchFamily="34" charset="-122"/>
                <a:cs typeface="Arial" pitchFamily="34" charset="-120"/>
              </a:rPr>
              <a:t>Trajectoire calée sur Vinted 2014–2017 × 1,4 grâce à la couverture multi-catégories du scan.</a:t>
            </a:r>
            <a:endParaRPr lang="en-US" sz="1500" dirty="0"/>
          </a:p>
        </p:txBody>
      </p:sp>
      <p:sp>
        <p:nvSpPr>
          <p:cNvPr id="29" name="Shape 27"/>
          <p:cNvSpPr/>
          <p:nvPr/>
        </p:nvSpPr>
        <p:spPr>
          <a:xfrm>
            <a:off x="1143000" y="9357783"/>
            <a:ext cx="16002000" cy="9525"/>
          </a:xfrm>
          <a:prstGeom prst="rect">
            <a:avLst/>
          </a:prstGeom>
          <a:solidFill>
            <a:srgbClr val="F5B82E">
              <a:alpha val="10000"/>
            </a:srgbClr>
          </a:solidFill>
          <a:ln/>
        </p:spPr>
      </p:sp>
      <p:sp>
        <p:nvSpPr>
          <p:cNvPr id="30" name="Text 28"/>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31" name="Text 29"/>
          <p:cNvSpPr/>
          <p:nvPr/>
        </p:nvSpPr>
        <p:spPr>
          <a:xfrm>
            <a:off x="15312628" y="9635067"/>
            <a:ext cx="1908572"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11 / 12 — PROJECTIONS</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907"/>
        </a:solidFill>
        <a:effectLst/>
      </p:bgPr>
    </p:bg>
    <p:spTree>
      <p:nvGrpSpPr>
        <p:cNvPr id="1" name=""/>
        <p:cNvGrpSpPr/>
        <p:nvPr/>
      </p:nvGrpSpPr>
      <p:grpSpPr>
        <a:xfrm>
          <a:off x="0" y="0"/>
          <a:ext cx="0" cy="0"/>
          <a:chOff x="0" y="0"/>
          <a:chExt cx="0" cy="0"/>
        </a:xfrm>
      </p:grpSpPr>
      <p:sp>
        <p:nvSpPr>
          <p:cNvPr id="2" name="Text 0"/>
          <p:cNvSpPr/>
          <p:nvPr/>
        </p:nvSpPr>
        <p:spPr>
          <a:xfrm>
            <a:off x="1143000" y="838200"/>
            <a:ext cx="16482060" cy="190500"/>
          </a:xfrm>
          <a:prstGeom prst="rect">
            <a:avLst/>
          </a:prstGeom>
          <a:noFill/>
          <a:ln/>
        </p:spPr>
        <p:txBody>
          <a:bodyPr wrap="square" lIns="25400" tIns="25400" rIns="25400" bIns="25400" rtlCol="0" anchor="ctr">
            <a:normAutofit/>
          </a:bodyPr>
          <a:lstStyle/>
          <a:p>
            <a:pPr marL="0" indent="0" algn="l">
              <a:buNone/>
            </a:pPr>
            <a:r>
              <a:rPr lang="en-US" sz="1050" kern="0" spc="231" dirty="0">
                <a:solidFill>
                  <a:srgbClr val="D9A024"/>
                </a:solidFill>
                <a:latin typeface="Arial" pitchFamily="34" charset="0"/>
                <a:ea typeface="Arial" pitchFamily="34" charset="-122"/>
                <a:cs typeface="Arial" pitchFamily="34" charset="-120"/>
              </a:rPr>
              <a:t>11 — LEVÉE</a:t>
            </a:r>
            <a:endParaRPr lang="en-US" sz="1050" dirty="0"/>
          </a:p>
        </p:txBody>
      </p:sp>
      <p:sp>
        <p:nvSpPr>
          <p:cNvPr id="3" name="Text 1"/>
          <p:cNvSpPr/>
          <p:nvPr/>
        </p:nvSpPr>
        <p:spPr>
          <a:xfrm>
            <a:off x="1143000" y="1219200"/>
            <a:ext cx="16482060" cy="926703"/>
          </a:xfrm>
          <a:prstGeom prst="rect">
            <a:avLst/>
          </a:prstGeom>
          <a:noFill/>
          <a:ln/>
        </p:spPr>
        <p:txBody>
          <a:bodyPr wrap="square" lIns="25400" tIns="25400" rIns="25400" bIns="25400" rtlCol="0" anchor="t">
            <a:normAutofit/>
          </a:bodyPr>
          <a:lstStyle/>
          <a:p>
            <a:pPr marL="0" indent="0" algn="l">
              <a:lnSpc>
                <a:spcPct val="104000"/>
              </a:lnSpc>
              <a:buNone/>
            </a:pPr>
            <a:r>
              <a:rPr lang="en-US" sz="6600" kern="0" spc="-132" dirty="0">
                <a:solidFill>
                  <a:srgbClr val="FAF6EC"/>
                </a:solidFill>
                <a:latin typeface="Arial" pitchFamily="34" charset="0"/>
                <a:ea typeface="Arial" pitchFamily="34" charset="-122"/>
                <a:cs typeface="Arial" pitchFamily="34" charset="-120"/>
              </a:rPr>
              <a:t>On lève </a:t>
            </a:r>
            <a:r>
              <a:rPr lang="en-US" sz="6600" i="1" kern="0" spc="-132" dirty="0">
                <a:solidFill>
                  <a:srgbClr val="F5B82E"/>
                </a:solidFill>
                <a:latin typeface="Arial" pitchFamily="34" charset="0"/>
                <a:ea typeface="Arial" pitchFamily="34" charset="-122"/>
                <a:cs typeface="Arial" pitchFamily="34" charset="-120"/>
              </a:rPr>
              <a:t>4M€ </a:t>
            </a:r>
            <a:r>
              <a:rPr lang="en-US" sz="6600" kern="0" spc="-132" dirty="0">
                <a:solidFill>
                  <a:srgbClr val="FAF6EC"/>
                </a:solidFill>
                <a:latin typeface="Arial" pitchFamily="34" charset="0"/>
                <a:ea typeface="Arial" pitchFamily="34" charset="-122"/>
                <a:cs typeface="Arial" pitchFamily="34" charset="-120"/>
              </a:rPr>
              <a:t>pour 18 mois.</a:t>
            </a:r>
            <a:endParaRPr lang="en-US" sz="6600" dirty="0"/>
          </a:p>
        </p:txBody>
      </p:sp>
      <p:sp>
        <p:nvSpPr>
          <p:cNvPr id="4" name="Text 2"/>
          <p:cNvSpPr/>
          <p:nvPr/>
        </p:nvSpPr>
        <p:spPr>
          <a:xfrm>
            <a:off x="1143000" y="4589595"/>
            <a:ext cx="8005572" cy="2095500"/>
          </a:xfrm>
          <a:prstGeom prst="rect">
            <a:avLst/>
          </a:prstGeom>
          <a:noFill/>
          <a:ln/>
        </p:spPr>
        <p:txBody>
          <a:bodyPr wrap="square" lIns="25400" tIns="25400" rIns="25400" bIns="25400" rtlCol="0" anchor="t">
            <a:normAutofit/>
          </a:bodyPr>
          <a:lstStyle/>
          <a:p>
            <a:pPr marL="0" indent="0" algn="l">
              <a:lnSpc>
                <a:spcPct val="90000"/>
              </a:lnSpc>
              <a:buNone/>
            </a:pPr>
            <a:r>
              <a:rPr lang="en-US" sz="9000" kern="0" spc="-540" dirty="0">
                <a:solidFill>
                  <a:srgbClr val="F5B82E"/>
                </a:solidFill>
                <a:latin typeface="Arial" pitchFamily="34" charset="0"/>
                <a:ea typeface="Arial" pitchFamily="34" charset="-122"/>
                <a:cs typeface="Arial" pitchFamily="34" charset="-120"/>
              </a:rPr>
              <a:t>€</a:t>
            </a:r>
            <a:r>
              <a:rPr lang="en-US" sz="18000" kern="0" spc="-540" dirty="0">
                <a:solidFill>
                  <a:srgbClr val="F5B82E"/>
                </a:solidFill>
                <a:latin typeface="Arial" pitchFamily="34" charset="0"/>
                <a:ea typeface="Arial" pitchFamily="34" charset="-122"/>
                <a:cs typeface="Arial" pitchFamily="34" charset="-120"/>
              </a:rPr>
              <a:t>4M</a:t>
            </a:r>
            <a:endParaRPr lang="en-US" sz="18000" dirty="0"/>
          </a:p>
        </p:txBody>
      </p:sp>
      <p:sp>
        <p:nvSpPr>
          <p:cNvPr id="5" name="Text 3"/>
          <p:cNvSpPr/>
          <p:nvPr/>
        </p:nvSpPr>
        <p:spPr>
          <a:xfrm>
            <a:off x="1143000" y="6875595"/>
            <a:ext cx="8005572" cy="891381"/>
          </a:xfrm>
          <a:prstGeom prst="rect">
            <a:avLst/>
          </a:prstGeom>
          <a:noFill/>
          <a:ln/>
        </p:spPr>
        <p:txBody>
          <a:bodyPr wrap="square" lIns="25400" tIns="25400" rIns="25400" bIns="25400" rtlCol="0" anchor="t">
            <a:normAutofit/>
          </a:bodyPr>
          <a:lstStyle/>
          <a:p>
            <a:pPr marL="0" indent="0" algn="l">
              <a:lnSpc>
                <a:spcPct val="140000"/>
              </a:lnSpc>
              <a:buNone/>
            </a:pPr>
            <a:r>
              <a:rPr lang="en-US" sz="2400" i="1" dirty="0">
                <a:solidFill>
                  <a:srgbClr val="F1EAD9"/>
                </a:solidFill>
                <a:latin typeface="Arial" pitchFamily="34" charset="0"/>
                <a:ea typeface="Arial" pitchFamily="34" charset="-122"/>
                <a:cs typeface="Arial" pitchFamily="34" charset="-120"/>
              </a:rPr>
              <a:t>Pour passer de 0 à 1,8M d'utilisateurs en France et aux États-Unis.</a:t>
            </a:r>
            <a:endParaRPr lang="en-US" sz="2400" dirty="0"/>
          </a:p>
        </p:txBody>
      </p:sp>
      <p:sp>
        <p:nvSpPr>
          <p:cNvPr id="6" name="Text 4"/>
          <p:cNvSpPr/>
          <p:nvPr/>
        </p:nvSpPr>
        <p:spPr>
          <a:xfrm>
            <a:off x="9372600" y="4790810"/>
            <a:ext cx="1476375"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Produit &amp; IA</a:t>
            </a:r>
            <a:endParaRPr lang="en-US" sz="1800" dirty="0"/>
          </a:p>
        </p:txBody>
      </p:sp>
      <p:sp>
        <p:nvSpPr>
          <p:cNvPr id="7" name="Text 5"/>
          <p:cNvSpPr/>
          <p:nvPr/>
        </p:nvSpPr>
        <p:spPr>
          <a:xfrm>
            <a:off x="16577866" y="4714610"/>
            <a:ext cx="643334" cy="410633"/>
          </a:xfrm>
          <a:prstGeom prst="rect">
            <a:avLst/>
          </a:prstGeom>
          <a:noFill/>
          <a:ln/>
        </p:spPr>
        <p:txBody>
          <a:bodyPr wrap="square" lIns="25400" tIns="25400" rIns="25400" bIns="25400" rtlCol="0" anchor="t">
            <a:normAutofit/>
          </a:bodyPr>
          <a:lstStyle/>
          <a:p>
            <a:pPr marL="0" indent="0" algn="l">
              <a:buNone/>
            </a:pPr>
            <a:r>
              <a:rPr lang="en-US" sz="2400" kern="0" spc="-48" dirty="0">
                <a:solidFill>
                  <a:srgbClr val="F5B82E"/>
                </a:solidFill>
                <a:latin typeface="Arial" pitchFamily="34" charset="0"/>
                <a:ea typeface="Arial" pitchFamily="34" charset="-122"/>
                <a:cs typeface="Arial" pitchFamily="34" charset="-120"/>
              </a:rPr>
              <a:t>45%</a:t>
            </a:r>
            <a:endParaRPr lang="en-US" sz="2400" dirty="0"/>
          </a:p>
        </p:txBody>
      </p:sp>
      <p:sp>
        <p:nvSpPr>
          <p:cNvPr id="8" name="Shape 6"/>
          <p:cNvSpPr/>
          <p:nvPr/>
        </p:nvSpPr>
        <p:spPr>
          <a:xfrm>
            <a:off x="9372600" y="5163344"/>
            <a:ext cx="7772400" cy="95250"/>
          </a:xfrm>
          <a:prstGeom prst="roundRect">
            <a:avLst>
              <a:gd name="adj" fmla="val 50000"/>
            </a:avLst>
          </a:prstGeom>
          <a:solidFill>
            <a:srgbClr val="1A1410"/>
          </a:solidFill>
          <a:ln/>
        </p:spPr>
      </p:sp>
      <p:sp>
        <p:nvSpPr>
          <p:cNvPr id="9" name="Shape 7"/>
          <p:cNvSpPr/>
          <p:nvPr/>
        </p:nvSpPr>
        <p:spPr>
          <a:xfrm>
            <a:off x="9372600" y="5163344"/>
            <a:ext cx="3497527" cy="95250"/>
          </a:xfrm>
          <a:prstGeom prst="roundRect">
            <a:avLst>
              <a:gd name="adj" fmla="val 50000"/>
            </a:avLst>
          </a:prstGeom>
          <a:solidFill>
            <a:srgbClr val="A87A1A"/>
          </a:solidFill>
          <a:ln/>
        </p:spPr>
      </p:sp>
      <p:sp>
        <p:nvSpPr>
          <p:cNvPr id="10" name="Text 8"/>
          <p:cNvSpPr/>
          <p:nvPr/>
        </p:nvSpPr>
        <p:spPr>
          <a:xfrm>
            <a:off x="9372600" y="5372894"/>
            <a:ext cx="8005572" cy="190500"/>
          </a:xfrm>
          <a:prstGeom prst="rect">
            <a:avLst/>
          </a:prstGeom>
          <a:noFill/>
          <a:ln/>
        </p:spPr>
        <p:txBody>
          <a:bodyPr wrap="square" lIns="25400" tIns="25400" rIns="25400" bIns="25400" rtlCol="0" anchor="t">
            <a:normAutofit/>
          </a:bodyPr>
          <a:lstStyle/>
          <a:p>
            <a:pPr marL="0" indent="0" algn="l">
              <a:buNone/>
            </a:pPr>
            <a:r>
              <a:rPr lang="en-US" sz="1050" dirty="0">
                <a:solidFill>
                  <a:srgbClr val="A99680"/>
                </a:solidFill>
                <a:latin typeface="Arial" pitchFamily="34" charset="0"/>
                <a:ea typeface="Arial" pitchFamily="34" charset="-122"/>
                <a:cs typeface="Arial" pitchFamily="34" charset="-120"/>
              </a:rPr>
              <a:t>Vision, indexation continue, équipe ML (8 personnes)</a:t>
            </a:r>
            <a:endParaRPr lang="en-US" sz="1050" dirty="0"/>
          </a:p>
        </p:txBody>
      </p:sp>
      <p:sp>
        <p:nvSpPr>
          <p:cNvPr id="11" name="Text 9"/>
          <p:cNvSpPr/>
          <p:nvPr/>
        </p:nvSpPr>
        <p:spPr>
          <a:xfrm>
            <a:off x="9372600" y="5830094"/>
            <a:ext cx="2194587"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Acquisition FR + US</a:t>
            </a:r>
            <a:endParaRPr lang="en-US" sz="1800" dirty="0"/>
          </a:p>
        </p:txBody>
      </p:sp>
      <p:sp>
        <p:nvSpPr>
          <p:cNvPr id="12" name="Text 10"/>
          <p:cNvSpPr/>
          <p:nvPr/>
        </p:nvSpPr>
        <p:spPr>
          <a:xfrm>
            <a:off x="16595858" y="5753894"/>
            <a:ext cx="625343" cy="410633"/>
          </a:xfrm>
          <a:prstGeom prst="rect">
            <a:avLst/>
          </a:prstGeom>
          <a:noFill/>
          <a:ln/>
        </p:spPr>
        <p:txBody>
          <a:bodyPr wrap="square" lIns="25400" tIns="25400" rIns="25400" bIns="25400" rtlCol="0" anchor="t">
            <a:normAutofit/>
          </a:bodyPr>
          <a:lstStyle/>
          <a:p>
            <a:pPr marL="0" indent="0" algn="l">
              <a:buNone/>
            </a:pPr>
            <a:r>
              <a:rPr lang="en-US" sz="2400" kern="0" spc="-48" dirty="0">
                <a:solidFill>
                  <a:srgbClr val="F5B82E"/>
                </a:solidFill>
                <a:latin typeface="Arial" pitchFamily="34" charset="0"/>
                <a:ea typeface="Arial" pitchFamily="34" charset="-122"/>
                <a:cs typeface="Arial" pitchFamily="34" charset="-120"/>
              </a:rPr>
              <a:t>35%</a:t>
            </a:r>
            <a:endParaRPr lang="en-US" sz="2400" dirty="0"/>
          </a:p>
        </p:txBody>
      </p:sp>
      <p:sp>
        <p:nvSpPr>
          <p:cNvPr id="13" name="Shape 11"/>
          <p:cNvSpPr/>
          <p:nvPr/>
        </p:nvSpPr>
        <p:spPr>
          <a:xfrm>
            <a:off x="9372600" y="6202627"/>
            <a:ext cx="7772400" cy="95250"/>
          </a:xfrm>
          <a:prstGeom prst="roundRect">
            <a:avLst>
              <a:gd name="adj" fmla="val 50000"/>
            </a:avLst>
          </a:prstGeom>
          <a:solidFill>
            <a:srgbClr val="1A1410"/>
          </a:solidFill>
          <a:ln/>
        </p:spPr>
      </p:sp>
      <p:sp>
        <p:nvSpPr>
          <p:cNvPr id="14" name="Shape 12"/>
          <p:cNvSpPr/>
          <p:nvPr/>
        </p:nvSpPr>
        <p:spPr>
          <a:xfrm>
            <a:off x="9372600" y="6202627"/>
            <a:ext cx="2720314" cy="95250"/>
          </a:xfrm>
          <a:prstGeom prst="roundRect">
            <a:avLst>
              <a:gd name="adj" fmla="val 50000"/>
            </a:avLst>
          </a:prstGeom>
          <a:solidFill>
            <a:srgbClr val="A87A1A"/>
          </a:solidFill>
          <a:ln/>
        </p:spPr>
      </p:sp>
      <p:sp>
        <p:nvSpPr>
          <p:cNvPr id="15" name="Text 13"/>
          <p:cNvSpPr/>
          <p:nvPr/>
        </p:nvSpPr>
        <p:spPr>
          <a:xfrm>
            <a:off x="9372600" y="6412177"/>
            <a:ext cx="8005572" cy="190500"/>
          </a:xfrm>
          <a:prstGeom prst="rect">
            <a:avLst/>
          </a:prstGeom>
          <a:noFill/>
          <a:ln/>
        </p:spPr>
        <p:txBody>
          <a:bodyPr wrap="square" lIns="25400" tIns="25400" rIns="25400" bIns="25400" rtlCol="0" anchor="t">
            <a:normAutofit/>
          </a:bodyPr>
          <a:lstStyle/>
          <a:p>
            <a:pPr marL="0" indent="0" algn="l">
              <a:buNone/>
            </a:pPr>
            <a:r>
              <a:rPr lang="en-US" sz="1050" dirty="0">
                <a:solidFill>
                  <a:srgbClr val="A99680"/>
                </a:solidFill>
                <a:latin typeface="Arial" pitchFamily="34" charset="0"/>
                <a:ea typeface="Arial" pitchFamily="34" charset="-122"/>
                <a:cs typeface="Arial" pitchFamily="34" charset="-120"/>
              </a:rPr>
              <a:t>Paid social, créateurs, RP. Test &amp; learn continu.</a:t>
            </a:r>
            <a:endParaRPr lang="en-US" sz="1050" dirty="0"/>
          </a:p>
        </p:txBody>
      </p:sp>
      <p:sp>
        <p:nvSpPr>
          <p:cNvPr id="16" name="Text 14"/>
          <p:cNvSpPr/>
          <p:nvPr/>
        </p:nvSpPr>
        <p:spPr>
          <a:xfrm>
            <a:off x="9372600" y="6869377"/>
            <a:ext cx="2308887" cy="317500"/>
          </a:xfrm>
          <a:prstGeom prst="rect">
            <a:avLst/>
          </a:prstGeom>
          <a:noFill/>
          <a:ln/>
        </p:spPr>
        <p:txBody>
          <a:bodyPr wrap="square" lIns="25400" tIns="25400" rIns="25400" bIns="25400" rtlCol="0" anchor="t">
            <a:normAutofit/>
          </a:bodyPr>
          <a:lstStyle/>
          <a:p>
            <a:pPr marL="0" indent="0" algn="l">
              <a:buNone/>
            </a:pPr>
            <a:r>
              <a:rPr lang="en-US" sz="1800" dirty="0">
                <a:solidFill>
                  <a:srgbClr val="FAF6EC"/>
                </a:solidFill>
                <a:latin typeface="Arial" pitchFamily="34" charset="0"/>
                <a:ea typeface="Arial" pitchFamily="34" charset="-122"/>
                <a:cs typeface="Arial" pitchFamily="34" charset="-120"/>
              </a:rPr>
              <a:t>Équipe &amp; opérations</a:t>
            </a:r>
            <a:endParaRPr lang="en-US" sz="1800" dirty="0"/>
          </a:p>
        </p:txBody>
      </p:sp>
      <p:sp>
        <p:nvSpPr>
          <p:cNvPr id="17" name="Text 15"/>
          <p:cNvSpPr/>
          <p:nvPr/>
        </p:nvSpPr>
        <p:spPr>
          <a:xfrm>
            <a:off x="16553788" y="6793177"/>
            <a:ext cx="667411" cy="410633"/>
          </a:xfrm>
          <a:prstGeom prst="rect">
            <a:avLst/>
          </a:prstGeom>
          <a:noFill/>
          <a:ln/>
        </p:spPr>
        <p:txBody>
          <a:bodyPr wrap="square" lIns="25400" tIns="25400" rIns="25400" bIns="25400" rtlCol="0" anchor="t">
            <a:normAutofit/>
          </a:bodyPr>
          <a:lstStyle/>
          <a:p>
            <a:pPr marL="0" indent="0" algn="l">
              <a:buNone/>
            </a:pPr>
            <a:r>
              <a:rPr lang="en-US" sz="2400" kern="0" spc="-48" dirty="0">
                <a:solidFill>
                  <a:srgbClr val="F5B82E"/>
                </a:solidFill>
                <a:latin typeface="Arial" pitchFamily="34" charset="0"/>
                <a:ea typeface="Arial" pitchFamily="34" charset="-122"/>
                <a:cs typeface="Arial" pitchFamily="34" charset="-120"/>
              </a:rPr>
              <a:t>20%</a:t>
            </a:r>
            <a:endParaRPr lang="en-US" sz="2400" dirty="0"/>
          </a:p>
        </p:txBody>
      </p:sp>
      <p:sp>
        <p:nvSpPr>
          <p:cNvPr id="18" name="Shape 16"/>
          <p:cNvSpPr/>
          <p:nvPr/>
        </p:nvSpPr>
        <p:spPr>
          <a:xfrm>
            <a:off x="9372600" y="7241910"/>
            <a:ext cx="7772400" cy="95250"/>
          </a:xfrm>
          <a:prstGeom prst="roundRect">
            <a:avLst>
              <a:gd name="adj" fmla="val 50000"/>
            </a:avLst>
          </a:prstGeom>
          <a:solidFill>
            <a:srgbClr val="1A1410"/>
          </a:solidFill>
          <a:ln/>
        </p:spPr>
      </p:sp>
      <p:sp>
        <p:nvSpPr>
          <p:cNvPr id="19" name="Shape 17"/>
          <p:cNvSpPr/>
          <p:nvPr/>
        </p:nvSpPr>
        <p:spPr>
          <a:xfrm>
            <a:off x="9372600" y="7241910"/>
            <a:ext cx="1554427" cy="95250"/>
          </a:xfrm>
          <a:prstGeom prst="roundRect">
            <a:avLst>
              <a:gd name="adj" fmla="val 50000"/>
            </a:avLst>
          </a:prstGeom>
          <a:solidFill>
            <a:srgbClr val="A87A1A"/>
          </a:solidFill>
          <a:ln/>
        </p:spPr>
      </p:sp>
      <p:sp>
        <p:nvSpPr>
          <p:cNvPr id="20" name="Text 18"/>
          <p:cNvSpPr/>
          <p:nvPr/>
        </p:nvSpPr>
        <p:spPr>
          <a:xfrm>
            <a:off x="9372600" y="7451460"/>
            <a:ext cx="8005572" cy="190500"/>
          </a:xfrm>
          <a:prstGeom prst="rect">
            <a:avLst/>
          </a:prstGeom>
          <a:noFill/>
          <a:ln/>
        </p:spPr>
        <p:txBody>
          <a:bodyPr wrap="square" lIns="25400" tIns="25400" rIns="25400" bIns="25400" rtlCol="0" anchor="t">
            <a:normAutofit/>
          </a:bodyPr>
          <a:lstStyle/>
          <a:p>
            <a:pPr marL="0" indent="0" algn="l">
              <a:buNone/>
            </a:pPr>
            <a:r>
              <a:rPr lang="en-US" sz="1050" dirty="0">
                <a:solidFill>
                  <a:srgbClr val="A99680"/>
                </a:solidFill>
                <a:latin typeface="Arial" pitchFamily="34" charset="0"/>
                <a:ea typeface="Arial" pitchFamily="34" charset="-122"/>
                <a:cs typeface="Arial" pitchFamily="34" charset="-120"/>
              </a:rPr>
              <a:t>Support, ops paiement, légal, autorité fiscale FR/US.</a:t>
            </a:r>
            <a:endParaRPr lang="en-US" sz="1050" dirty="0"/>
          </a:p>
        </p:txBody>
      </p:sp>
      <p:sp>
        <p:nvSpPr>
          <p:cNvPr id="21" name="Shape 19"/>
          <p:cNvSpPr/>
          <p:nvPr/>
        </p:nvSpPr>
        <p:spPr>
          <a:xfrm>
            <a:off x="1143000" y="9357783"/>
            <a:ext cx="16002000" cy="9525"/>
          </a:xfrm>
          <a:prstGeom prst="rect">
            <a:avLst/>
          </a:prstGeom>
          <a:solidFill>
            <a:srgbClr val="F5B82E">
              <a:alpha val="10000"/>
            </a:srgbClr>
          </a:solidFill>
          <a:ln/>
        </p:spPr>
      </p:sp>
      <p:sp>
        <p:nvSpPr>
          <p:cNvPr id="22" name="Text 20"/>
          <p:cNvSpPr/>
          <p:nvPr/>
        </p:nvSpPr>
        <p:spPr>
          <a:xfrm>
            <a:off x="1143000" y="9575800"/>
            <a:ext cx="660400" cy="292100"/>
          </a:xfrm>
          <a:prstGeom prst="rect">
            <a:avLst/>
          </a:prstGeom>
          <a:noFill/>
          <a:ln/>
        </p:spPr>
        <p:txBody>
          <a:bodyPr wrap="square" lIns="25400" tIns="25400" rIns="25400" bIns="25400" rtlCol="0" anchor="t">
            <a:normAutofit/>
          </a:bodyPr>
          <a:lstStyle/>
          <a:p>
            <a:pPr marL="0" indent="0" algn="l">
              <a:buNone/>
            </a:pPr>
            <a:r>
              <a:rPr lang="en-US" sz="1650" i="1" dirty="0">
                <a:solidFill>
                  <a:srgbClr val="F5B82E"/>
                </a:solidFill>
                <a:latin typeface="Arial" pitchFamily="34" charset="0"/>
                <a:ea typeface="Arial" pitchFamily="34" charset="-122"/>
                <a:cs typeface="Arial" pitchFamily="34" charset="-120"/>
              </a:rPr>
              <a:t>Pépite</a:t>
            </a:r>
            <a:endParaRPr lang="en-US" sz="1650" dirty="0"/>
          </a:p>
        </p:txBody>
      </p:sp>
      <p:sp>
        <p:nvSpPr>
          <p:cNvPr id="23" name="Text 21"/>
          <p:cNvSpPr/>
          <p:nvPr/>
        </p:nvSpPr>
        <p:spPr>
          <a:xfrm>
            <a:off x="15896167" y="9635067"/>
            <a:ext cx="1325033" cy="173567"/>
          </a:xfrm>
          <a:prstGeom prst="rect">
            <a:avLst/>
          </a:prstGeom>
          <a:noFill/>
          <a:ln/>
        </p:spPr>
        <p:txBody>
          <a:bodyPr wrap="square" lIns="25400" tIns="25400" rIns="25400" bIns="25400" rtlCol="0" anchor="t">
            <a:normAutofit/>
          </a:bodyPr>
          <a:lstStyle/>
          <a:p>
            <a:pPr marL="0" indent="0" algn="l">
              <a:buNone/>
            </a:pPr>
            <a:r>
              <a:rPr lang="en-US" sz="975" kern="0" spc="146" dirty="0">
                <a:solidFill>
                  <a:srgbClr val="7E6E5C"/>
                </a:solidFill>
                <a:latin typeface="Arial" pitchFamily="34" charset="0"/>
                <a:ea typeface="Arial" pitchFamily="34" charset="-122"/>
                <a:cs typeface="Arial" pitchFamily="34" charset="-120"/>
              </a:rPr>
              <a:t>12 / 12 — LEVÉE</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1721</Words>
  <Application>Microsoft Office PowerPoint</Application>
  <PresentationFormat>Personnalisé</PresentationFormat>
  <Paragraphs>201</Paragraphs>
  <Slides>12</Slides>
  <Notes>12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12</vt:i4>
      </vt:variant>
    </vt:vector>
  </HeadingPairs>
  <TitlesOfParts>
    <vt:vector size="14"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Hugo S</cp:lastModifiedBy>
  <cp:revision>2</cp:revision>
  <dcterms:created xsi:type="dcterms:W3CDTF">2026-05-03T01:33:41Z</dcterms:created>
  <dcterms:modified xsi:type="dcterms:W3CDTF">2026-05-03T01:35:34Z</dcterms:modified>
</cp:coreProperties>
</file>